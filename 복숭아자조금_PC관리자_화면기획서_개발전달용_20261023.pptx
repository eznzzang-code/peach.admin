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58eaf13d94708" /><Relationship Type="http://schemas.openxmlformats.org/officeDocument/2006/relationships/extended-properties" Target="/docProps/app.xml" Id="R14c7bc65d5da4ede" /><Relationship Type="http://schemas.openxmlformats.org/officeDocument/2006/relationships/officeDocument" Target="/ppt/presentation.xml" Id="R10747c355ca1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648b3348340d4"/>
  </p:sldMasterIdLst>
  <p:notesMasterIdLst>
    <p:notesMasterId xmlns:r="http://schemas.openxmlformats.org/officeDocument/2006/relationships" r:id="R8dbf9f3d6e204e80"/>
  </p:notesMasterIdLst>
  <p:sldIdLst>
    <p:sldId xmlns:r="http://schemas.openxmlformats.org/officeDocument/2006/relationships" id="256" r:id="R7cbcc6aaba684162"/>
    <p:sldId xmlns:r="http://schemas.openxmlformats.org/officeDocument/2006/relationships" id="257" r:id="Rd3cb5a3e96354e90"/>
    <p:sldId xmlns:r="http://schemas.openxmlformats.org/officeDocument/2006/relationships" id="258" r:id="Rfde89a01e0904028"/>
    <p:sldId xmlns:r="http://schemas.openxmlformats.org/officeDocument/2006/relationships" id="259" r:id="R674cafabdcca4731"/>
    <p:sldId xmlns:r="http://schemas.openxmlformats.org/officeDocument/2006/relationships" id="260" r:id="Rfb5fb64cecb54c72"/>
    <p:sldId xmlns:r="http://schemas.openxmlformats.org/officeDocument/2006/relationships" id="261" r:id="R62c35355caf94c6a"/>
    <p:sldId xmlns:r="http://schemas.openxmlformats.org/officeDocument/2006/relationships" id="262" r:id="Re507702b9bca4933"/>
    <p:sldId xmlns:r="http://schemas.openxmlformats.org/officeDocument/2006/relationships" id="263" r:id="R0ab6ad8ec3d543d6"/>
    <p:sldId xmlns:r="http://schemas.openxmlformats.org/officeDocument/2006/relationships" id="264" r:id="R19c79a783d3e4137"/>
    <p:sldId xmlns:r="http://schemas.openxmlformats.org/officeDocument/2006/relationships" id="265" r:id="R00fb711f0a174bc1"/>
    <p:sldId xmlns:r="http://schemas.openxmlformats.org/officeDocument/2006/relationships" id="266" r:id="R5e27529824d44a88"/>
    <p:sldId xmlns:r="http://schemas.openxmlformats.org/officeDocument/2006/relationships" id="267" r:id="Rb45e58a449494ec5"/>
    <p:sldId xmlns:r="http://schemas.openxmlformats.org/officeDocument/2006/relationships" id="268" r:id="Ra8fa3f851b9f41c8"/>
    <p:sldId xmlns:r="http://schemas.openxmlformats.org/officeDocument/2006/relationships" id="269" r:id="Rc370642b51fe4ffa"/>
    <p:sldId xmlns:r="http://schemas.openxmlformats.org/officeDocument/2006/relationships" id="270" r:id="R9a30bfe506c94388"/>
    <p:sldId xmlns:r="http://schemas.openxmlformats.org/officeDocument/2006/relationships" id="271" r:id="R5bcd036cc9924014"/>
    <p:sldId xmlns:r="http://schemas.openxmlformats.org/officeDocument/2006/relationships" id="272" r:id="Rc5c7e129c05c4362"/>
    <p:sldId xmlns:r="http://schemas.openxmlformats.org/officeDocument/2006/relationships" id="273" r:id="R1673eb1e82b44f67"/>
    <p:sldId xmlns:r="http://schemas.openxmlformats.org/officeDocument/2006/relationships" id="274" r:id="Rb9d6b5f9d83c40d1"/>
    <p:sldId xmlns:r="http://schemas.openxmlformats.org/officeDocument/2006/relationships" id="275" r:id="R243f8d73d17f4c33"/>
    <p:sldId xmlns:r="http://schemas.openxmlformats.org/officeDocument/2006/relationships" id="276" r:id="Rc7ce225858b3455b"/>
    <p:sldId xmlns:r="http://schemas.openxmlformats.org/officeDocument/2006/relationships" id="277" r:id="R16d4f1a95ee440d7"/>
    <p:sldId xmlns:r="http://schemas.openxmlformats.org/officeDocument/2006/relationships" id="278" r:id="Ra80dd63997cb4522"/>
    <p:sldId xmlns:r="http://schemas.openxmlformats.org/officeDocument/2006/relationships" id="279" r:id="R336ac75051da49c6"/>
    <p:sldId xmlns:r="http://schemas.openxmlformats.org/officeDocument/2006/relationships" id="280" r:id="R599c77ddda8b42bb"/>
    <p:sldId xmlns:r="http://schemas.openxmlformats.org/officeDocument/2006/relationships" id="281" r:id="R4e06501ac3144261"/>
    <p:sldId xmlns:r="http://schemas.openxmlformats.org/officeDocument/2006/relationships" id="282" r:id="R7dbb5527ff9f41ef"/>
    <p:sldId xmlns:r="http://schemas.openxmlformats.org/officeDocument/2006/relationships" id="283" r:id="R96bd5adeaa414868"/>
    <p:sldId xmlns:r="http://schemas.openxmlformats.org/officeDocument/2006/relationships" id="284" r:id="Re79b184f292e4057"/>
    <p:sldId xmlns:r="http://schemas.openxmlformats.org/officeDocument/2006/relationships" id="285" r:id="Rd98f31d447cf4450"/>
    <p:sldId xmlns:r="http://schemas.openxmlformats.org/officeDocument/2006/relationships" id="286" r:id="Reb5004e4d72544ed"/>
    <p:sldId xmlns:r="http://schemas.openxmlformats.org/officeDocument/2006/relationships" id="287" r:id="R1f199da4adb74ee6"/>
    <p:sldId xmlns:r="http://schemas.openxmlformats.org/officeDocument/2006/relationships" id="288" r:id="Re3bcc346bab94fa7"/>
    <p:sldId xmlns:r="http://schemas.openxmlformats.org/officeDocument/2006/relationships" id="289" r:id="Rdd01cedb9081487d"/>
    <p:sldId xmlns:r="http://schemas.openxmlformats.org/officeDocument/2006/relationships" id="290" r:id="R27e7f8549d95417f"/>
    <p:sldId xmlns:r="http://schemas.openxmlformats.org/officeDocument/2006/relationships" id="291" r:id="Rf4ece61dde1a4590"/>
  </p:sldIdLst>
  <p:sldSz cx="17145000" cy="10477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ebf0b185e49e2" /><Relationship Type="http://schemas.openxmlformats.org/officeDocument/2006/relationships/slideMaster" Target="/ppt/slideMasters/slideMaster1.xml" Id="R811648b3348340d4" /><Relationship Type="http://schemas.openxmlformats.org/officeDocument/2006/relationships/notesMaster" Target="/ppt/notesMasters/notesMaster1.xml" Id="R8dbf9f3d6e204e80" /><Relationship Type="http://schemas.openxmlformats.org/officeDocument/2006/relationships/presProps" Target="/ppt/presProps.xml" Id="R222e9eaf3d374d15" /><Relationship Type="http://schemas.openxmlformats.org/officeDocument/2006/relationships/viewProps" Target="/ppt/viewProps.xml" Id="Rc1ca85cabff142ee" /><Relationship Type="http://schemas.openxmlformats.org/officeDocument/2006/relationships/tableStyles" Target="/ppt/tableStyles.xml" Id="Rc79fd32b56fa4dec" /><Relationship Type="http://schemas.openxmlformats.org/officeDocument/2006/relationships/slide" Target="/ppt/slides/slide1.xml" Id="R7cbcc6aaba684162" /><Relationship Type="http://schemas.openxmlformats.org/officeDocument/2006/relationships/slide" Target="/ppt/slides/slide2.xml" Id="Rd3cb5a3e96354e90" /><Relationship Type="http://schemas.openxmlformats.org/officeDocument/2006/relationships/slide" Target="/ppt/slides/slide3.xml" Id="Rfde89a01e0904028" /><Relationship Type="http://schemas.openxmlformats.org/officeDocument/2006/relationships/slide" Target="/ppt/slides/slide4.xml" Id="R674cafabdcca4731" /><Relationship Type="http://schemas.openxmlformats.org/officeDocument/2006/relationships/slide" Target="/ppt/slides/slide5.xml" Id="Rfb5fb64cecb54c72" /><Relationship Type="http://schemas.openxmlformats.org/officeDocument/2006/relationships/slide" Target="/ppt/slides/slide6.xml" Id="R62c35355caf94c6a" /><Relationship Type="http://schemas.openxmlformats.org/officeDocument/2006/relationships/slide" Target="/ppt/slides/slide7.xml" Id="Re507702b9bca4933" /><Relationship Type="http://schemas.openxmlformats.org/officeDocument/2006/relationships/slide" Target="/ppt/slides/slide8.xml" Id="R0ab6ad8ec3d543d6" /><Relationship Type="http://schemas.openxmlformats.org/officeDocument/2006/relationships/slide" Target="/ppt/slides/slide9.xml" Id="R19c79a783d3e4137" /><Relationship Type="http://schemas.openxmlformats.org/officeDocument/2006/relationships/slide" Target="/ppt/slides/slide10.xml" Id="R00fb711f0a174bc1" /><Relationship Type="http://schemas.openxmlformats.org/officeDocument/2006/relationships/slide" Target="/ppt/slides/slide11.xml" Id="R5e27529824d44a88" /><Relationship Type="http://schemas.openxmlformats.org/officeDocument/2006/relationships/slide" Target="/ppt/slides/slide12.xml" Id="Rb45e58a449494ec5" /><Relationship Type="http://schemas.openxmlformats.org/officeDocument/2006/relationships/slide" Target="/ppt/slides/slide13.xml" Id="Ra8fa3f851b9f41c8" /><Relationship Type="http://schemas.openxmlformats.org/officeDocument/2006/relationships/slide" Target="/ppt/slides/slide14.xml" Id="Rc370642b51fe4ffa" /><Relationship Type="http://schemas.openxmlformats.org/officeDocument/2006/relationships/slide" Target="/ppt/slides/slide15.xml" Id="R9a30bfe506c94388" /><Relationship Type="http://schemas.openxmlformats.org/officeDocument/2006/relationships/slide" Target="/ppt/slides/slide16.xml" Id="R5bcd036cc9924014" /><Relationship Type="http://schemas.openxmlformats.org/officeDocument/2006/relationships/slide" Target="/ppt/slides/slide17.xml" Id="Rc5c7e129c05c4362" /><Relationship Type="http://schemas.openxmlformats.org/officeDocument/2006/relationships/slide" Target="/ppt/slides/slide18.xml" Id="R1673eb1e82b44f67" /><Relationship Type="http://schemas.openxmlformats.org/officeDocument/2006/relationships/slide" Target="/ppt/slides/slide19.xml" Id="Rb9d6b5f9d83c40d1" /><Relationship Type="http://schemas.openxmlformats.org/officeDocument/2006/relationships/slide" Target="/ppt/slides/slide20.xml" Id="R243f8d73d17f4c33" /><Relationship Type="http://schemas.openxmlformats.org/officeDocument/2006/relationships/slide" Target="/ppt/slides/slide21.xml" Id="Rc7ce225858b3455b" /><Relationship Type="http://schemas.openxmlformats.org/officeDocument/2006/relationships/slide" Target="/ppt/slides/slide22.xml" Id="R16d4f1a95ee440d7" /><Relationship Type="http://schemas.openxmlformats.org/officeDocument/2006/relationships/slide" Target="/ppt/slides/slide23.xml" Id="Ra80dd63997cb4522" /><Relationship Type="http://schemas.openxmlformats.org/officeDocument/2006/relationships/slide" Target="/ppt/slides/slide24.xml" Id="R336ac75051da49c6" /><Relationship Type="http://schemas.openxmlformats.org/officeDocument/2006/relationships/slide" Target="/ppt/slides/slide25.xml" Id="R599c77ddda8b42bb" /><Relationship Type="http://schemas.openxmlformats.org/officeDocument/2006/relationships/slide" Target="/ppt/slides/slide26.xml" Id="R4e06501ac3144261" /><Relationship Type="http://schemas.openxmlformats.org/officeDocument/2006/relationships/slide" Target="/ppt/slides/slide27.xml" Id="R7dbb5527ff9f41ef" /><Relationship Type="http://schemas.openxmlformats.org/officeDocument/2006/relationships/slide" Target="/ppt/slides/slide28.xml" Id="R96bd5adeaa414868" /><Relationship Type="http://schemas.openxmlformats.org/officeDocument/2006/relationships/slide" Target="/ppt/slides/slide29.xml" Id="Re79b184f292e4057" /><Relationship Type="http://schemas.openxmlformats.org/officeDocument/2006/relationships/slide" Target="/ppt/slides/slide30.xml" Id="Rd98f31d447cf4450" /><Relationship Type="http://schemas.openxmlformats.org/officeDocument/2006/relationships/slide" Target="/ppt/slides/slide31.xml" Id="Reb5004e4d72544ed" /><Relationship Type="http://schemas.openxmlformats.org/officeDocument/2006/relationships/slide" Target="/ppt/slides/slide32.xml" Id="R1f199da4adb74ee6" /><Relationship Type="http://schemas.openxmlformats.org/officeDocument/2006/relationships/slide" Target="/ppt/slides/slide33.xml" Id="Re3bcc346bab94fa7" /><Relationship Type="http://schemas.openxmlformats.org/officeDocument/2006/relationships/slide" Target="/ppt/slides/slide34.xml" Id="Rdd01cedb9081487d" /><Relationship Type="http://schemas.openxmlformats.org/officeDocument/2006/relationships/slide" Target="/ppt/slides/slide35.xml" Id="R27e7f8549d95417f" /><Relationship Type="http://schemas.openxmlformats.org/officeDocument/2006/relationships/slide" Target="/ppt/slides/slide36.xml" Id="Rf4ece61dde1a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27fe829e944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6e5b80536467d" /><Relationship Type="http://schemas.openxmlformats.org/officeDocument/2006/relationships/notesMaster" Target="/ppt/notesMasters/notesMaster1.xml" Id="R55d083c0937b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f775455afe4e96" /><Relationship Type="http://schemas.openxmlformats.org/officeDocument/2006/relationships/notesMaster" Target="/ppt/notesMasters/notesMaster1.xml" Id="R8aeffc8f8231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3af442aaa4400d" /><Relationship Type="http://schemas.openxmlformats.org/officeDocument/2006/relationships/notesMaster" Target="/ppt/notesMasters/notesMaster1.xml" Id="R15d948353b8f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049be8557d43ff" /><Relationship Type="http://schemas.openxmlformats.org/officeDocument/2006/relationships/notesMaster" Target="/ppt/notesMasters/notesMaster1.xml" Id="R4b3dae16d06e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3081526b724b1c" /><Relationship Type="http://schemas.openxmlformats.org/officeDocument/2006/relationships/notesMaster" Target="/ppt/notesMasters/notesMaster1.xml" Id="R8da1f8b86834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4ab5cd6e847ee" /><Relationship Type="http://schemas.openxmlformats.org/officeDocument/2006/relationships/notesMaster" Target="/ppt/notesMasters/notesMaster1.xml" Id="R93de895204be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f0d0a19d24f19" /><Relationship Type="http://schemas.openxmlformats.org/officeDocument/2006/relationships/notesMaster" Target="/ppt/notesMasters/notesMaster1.xml" Id="R1bf2d2a3eaca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9569304fca4690" /><Relationship Type="http://schemas.openxmlformats.org/officeDocument/2006/relationships/notesMaster" Target="/ppt/notesMasters/notesMaster1.xml" Id="R0c50da1923cf4b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3f792a48c4529" /><Relationship Type="http://schemas.openxmlformats.org/officeDocument/2006/relationships/notesMaster" Target="/ppt/notesMasters/notesMaster1.xml" Id="R5091d94d5905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601e8c47484299" /><Relationship Type="http://schemas.openxmlformats.org/officeDocument/2006/relationships/notesMaster" Target="/ppt/notesMasters/notesMaster1.xml" Id="R5eabba2c1a7f43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f818a7a373409b" /><Relationship Type="http://schemas.openxmlformats.org/officeDocument/2006/relationships/notesMaster" Target="/ppt/notesMasters/notesMaster1.xml" Id="Rf54813b22b5346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2f7d9ec2de4f70" /><Relationship Type="http://schemas.openxmlformats.org/officeDocument/2006/relationships/notesMaster" Target="/ppt/notesMasters/notesMaster1.xml" Id="Re5ad927966fa46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6207f1c00d480f" /><Relationship Type="http://schemas.openxmlformats.org/officeDocument/2006/relationships/notesMaster" Target="/ppt/notesMasters/notesMaster1.xml" Id="R930362b890bf4e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43562bbdff4b6d" /><Relationship Type="http://schemas.openxmlformats.org/officeDocument/2006/relationships/notesMaster" Target="/ppt/notesMasters/notesMaster1.xml" Id="R9ace8458586d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c923168b064996" /><Relationship Type="http://schemas.openxmlformats.org/officeDocument/2006/relationships/notesMaster" Target="/ppt/notesMasters/notesMaster1.xml" Id="R26317fa2b10049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496b3d200e4d58" /><Relationship Type="http://schemas.openxmlformats.org/officeDocument/2006/relationships/notesMaster" Target="/ppt/notesMasters/notesMaster1.xml" Id="Rd2fbddd1fa894f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97d99a87574c53" /><Relationship Type="http://schemas.openxmlformats.org/officeDocument/2006/relationships/notesMaster" Target="/ppt/notesMasters/notesMaster1.xml" Id="R3df99bdf2f9d4a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f915202ffa4efc" /><Relationship Type="http://schemas.openxmlformats.org/officeDocument/2006/relationships/notesMaster" Target="/ppt/notesMasters/notesMaster1.xml" Id="Rbb34591859374e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fda0bd53ec4eb4" /><Relationship Type="http://schemas.openxmlformats.org/officeDocument/2006/relationships/notesMaster" Target="/ppt/notesMasters/notesMaster1.xml" Id="Rd7032134b79040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8a0f3a572d43a4" /><Relationship Type="http://schemas.openxmlformats.org/officeDocument/2006/relationships/notesMaster" Target="/ppt/notesMasters/notesMaster1.xml" Id="R7755719bf9994b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531c8a7570470b" /><Relationship Type="http://schemas.openxmlformats.org/officeDocument/2006/relationships/notesMaster" Target="/ppt/notesMasters/notesMaster1.xml" Id="R8aff679498a84d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165b9712f84b8f" /><Relationship Type="http://schemas.openxmlformats.org/officeDocument/2006/relationships/notesMaster" Target="/ppt/notesMasters/notesMaster1.xml" Id="R8624c6bb61bf454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aec2198fa943ff" /><Relationship Type="http://schemas.openxmlformats.org/officeDocument/2006/relationships/notesMaster" Target="/ppt/notesMasters/notesMaster1.xml" Id="R2114d3f93b7148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7388463a724cf2" /><Relationship Type="http://schemas.openxmlformats.org/officeDocument/2006/relationships/notesMaster" Target="/ppt/notesMasters/notesMaster1.xml" Id="R6d0ae9328a4748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c6427d455e4def" /><Relationship Type="http://schemas.openxmlformats.org/officeDocument/2006/relationships/notesMaster" Target="/ppt/notesMasters/notesMaster1.xml" Id="R98a02a24d5f445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786707aef945e0" /><Relationship Type="http://schemas.openxmlformats.org/officeDocument/2006/relationships/notesMaster" Target="/ppt/notesMasters/notesMaster1.xml" Id="R9d673fc7360740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ba4734cfce4409" /><Relationship Type="http://schemas.openxmlformats.org/officeDocument/2006/relationships/notesMaster" Target="/ppt/notesMasters/notesMaster1.xml" Id="R7f6e3441e6d342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9f360aa9294625" /><Relationship Type="http://schemas.openxmlformats.org/officeDocument/2006/relationships/notesMaster" Target="/ppt/notesMasters/notesMaster1.xml" Id="Rbcb56f463f294f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9abdd542914aa3" /><Relationship Type="http://schemas.openxmlformats.org/officeDocument/2006/relationships/notesMaster" Target="/ppt/notesMasters/notesMaster1.xml" Id="Rc1a1fcc876ee45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7569b6dc1e04168" /><Relationship Type="http://schemas.openxmlformats.org/officeDocument/2006/relationships/notesMaster" Target="/ppt/notesMasters/notesMaster1.xml" Id="R3ec911fb07d849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721e3632a844b5" /><Relationship Type="http://schemas.openxmlformats.org/officeDocument/2006/relationships/notesMaster" Target="/ppt/notesMasters/notesMaster1.xml" Id="Rd84cce9f3cf9444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f279707a33421b" /><Relationship Type="http://schemas.openxmlformats.org/officeDocument/2006/relationships/notesMaster" Target="/ppt/notesMasters/notesMaster1.xml" Id="R46e94d01c679423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6b374feb524e75" /><Relationship Type="http://schemas.openxmlformats.org/officeDocument/2006/relationships/notesMaster" Target="/ppt/notesMasters/notesMaster1.xml" Id="R6178e8bc949243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8070f8645fd4a49" /><Relationship Type="http://schemas.openxmlformats.org/officeDocument/2006/relationships/notesMaster" Target="/ppt/notesMasters/notesMaster1.xml" Id="R662dec35570e42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0254ecb147b479b" /><Relationship Type="http://schemas.openxmlformats.org/officeDocument/2006/relationships/notesMaster" Target="/ppt/notesMasters/notesMaster1.xml" Id="Rc823fb8a850b47f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7b9d182273343ac" /><Relationship Type="http://schemas.openxmlformats.org/officeDocument/2006/relationships/notesMaster" Target="/ppt/notesMasters/notesMaster1.xml" Id="Re281563e584146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ADM-HOME-01</a:t>
            </a:r>
          </a:p>
          <a:p xmlns:a="http://schemas.openxmlformats.org/drawingml/2006/main">
            <a:r>
              <a:t>화면 경로: index.html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이달의 과원관리</a:t>
            </a:r>
          </a:p>
          <a:p xmlns:a="http://schemas.openxmlformats.org/drawingml/2006/main">
            <a:r>
              <a:t>서울 기준 현재 연도·월의 공개 자료를 표시합니다. 수정은 해당 연도·월의 과원관리 수정 화면으로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상시 재배력</a:t>
            </a:r>
          </a:p>
          <a:p xmlns:a="http://schemas.openxmlformats.org/drawingml/2006/main">
            <a:r>
              <a:t>공개된 현재 연도 재배력 정보를 표시합니다. 수정은 상시 재배력 관리로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교육영상</a:t>
            </a:r>
          </a:p>
          <a:p xmlns:a="http://schemas.openxmlformats.org/drawingml/2006/main">
            <a:r>
              <a:t>홈페이지용 데이터에서 메인 선정 영상을 우선해 최대 3건 표시합니다. 수정은 원본 영상 상세로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ADM-HOME-02</a:t>
            </a:r>
          </a:p>
          <a:p xmlns:a="http://schemas.openxmlformats.org/drawingml/2006/main">
            <a:r>
              <a:t>화면 경로: index.html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최근 게시글</a:t>
            </a:r>
          </a:p>
          <a:p xmlns:a="http://schemas.openxmlformats.org/drawingml/2006/main">
            <a:r>
              <a:t>최근 수정한 게시글 3건의 게시판·제목·상태·수정일을 표시합니다. 제목은 해당 글 수정, 게시글 관리는 목록으로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홈페이지 이동</a:t>
            </a:r>
          </a:p>
          <a:p xmlns:a="http://schemas.openxmlformats.org/drawingml/2006/main">
            <a:r>
              <a:t>상단 홈페이지 링크는 사용자 홈페이지를 새 창으로 엽니다. 배포 환경의 실제 홈페이지 주소로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계정·로그아웃</a:t>
            </a:r>
          </a:p>
          <a:p xmlns:a="http://schemas.openxmlformats.org/drawingml/2006/main">
            <a:r>
              <a:t>로그인 운영자 이름을 표시합니다. 현재 로그아웃 버튼은 API 미연결입니다. 세션 종료와 로그인 화면 이동을 개발합니다.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최근 게시글은 공지·복숭아정보·재배자료를 수정일 내림차순, 동률 ID 내림차순으로 정렬해 3건 표시합니다. 운영자 인증 화면은 이번 퍼블리싱에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ADM-POST-01</a:t>
            </a:r>
          </a:p>
          <a:p xmlns:a="http://schemas.openxmlformats.org/drawingml/2006/main">
            <a:r>
              <a:t>화면 경로: contents-list.html#notice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조회 조건</a:t>
            </a:r>
          </a:p>
          <a:p xmlns:a="http://schemas.openxmlformats.org/drawingml/2006/main">
            <a:r>
              <a:t>기간·상태·검색 대상을 조합합니다. 검색 버튼 또는 Enter로 검색하며 조건 변경 시 1페이지로 돌아갑니다.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공지 목록</a:t>
            </a:r>
          </a:p>
          <a:p xmlns:a="http://schemas.openxmlformats.org/drawingml/2006/main">
            <a:r>
              <a:t>제목·채널·상태·작성자·수정일을 표시합니다. 제목 클릭 시 해당 글 수정 화면으로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정렬·페이지</a:t>
            </a:r>
          </a:p>
          <a:p xmlns:a="http://schemas.openxmlformats.org/drawingml/2006/main">
            <a:r>
              <a:t>현재 게시중인 상단 고정 공지를 먼저 표시합니다. 나머지는 수정일 내림차순, 동률이면 ID 내림차순이며 페이지당 10건입니다.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경로 contents-list.html#notice. category=공지. 기간 필터는 수정일 기준. 게시글 상태는 임시저장·비공개·게시예정·게시중·게시종료를 데이터로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ADM-POST-14</a:t>
            </a:r>
          </a:p>
          <a:p xmlns:a="http://schemas.openxmlformats.org/drawingml/2006/main">
            <a:r>
              <a:t>화면 경로: contents-list.html#notice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기간 조건</a:t>
            </a:r>
          </a:p>
          <a:p xmlns:a="http://schemas.openxmlformats.org/drawingml/2006/main">
            <a:r>
              <a:t>전체·최근 1개월·3개월·6개월·직접 입력으로 수정일을 조회합니다. 직접 입력은 시작·종료일을 모두 확인하고 날짜 역전을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상태 판정</a:t>
            </a:r>
          </a:p>
          <a:p xmlns:a="http://schemas.openxmlformats.org/drawingml/2006/main">
            <a:r>
              <a:t>임시저장과 비공개를 먼저 판정합니다. 공개 글은 시작일 전 게시예정, 기간 안 게시중, 종료일 후 게시종료로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검색·초기화</a:t>
            </a:r>
          </a:p>
          <a:p xmlns:a="http://schemas.openxmlformats.org/drawingml/2006/main">
            <a:r>
              <a:t>제목+내용·제목·작성자로 검색합니다. 조건 변경 시 1페이지와 선택 체크를 초기화하며 검색 결과가 없으면 안내 행을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상태·긴급 활성은 별도 저장값 대신 날짜와 공개값으로 계산합니다. 운영 서버 기준 시간대를 통일하고 시작·종료일 당일을 포함해 노출 여부를 판정합니다.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ADM-POST-02</a:t>
            </a:r>
          </a:p>
          <a:p xmlns:a="http://schemas.openxmlformats.org/drawingml/2006/main">
            <a:r>
              <a:t>화면 경로: contents-list.html#info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게시판 기준</a:t>
            </a:r>
          </a:p>
          <a:p xmlns:a="http://schemas.openxmlformats.org/drawingml/2006/main">
            <a:r>
              <a:t>복숭아정보 게시판의 데이터만 조회합니다. 공지사항·재배자료와 목록, 임시저장 건수를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공통 목록 동작</a:t>
            </a:r>
          </a:p>
          <a:p xmlns:a="http://schemas.openxmlformats.org/drawingml/2006/main">
            <a:r>
              <a:t>검색·선택 삭제·상태·채널·페이지 처리는 공지사항과 같습니다. 홈페이지 공지 상단 고정 대상에서는 제외합니다.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신규등록</a:t>
            </a:r>
          </a:p>
          <a:p xmlns:a="http://schemas.openxmlformats.org/drawingml/2006/main">
            <a:r>
              <a:t>복숭아정보를 유지한 등록 화면으로 이동합니다. 게시판 없는 직접 등록 주소는 저장할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목록 #info, 등록 contents-create.html#info. 수정 시 기존 글의 게시판을 사용하며 임의 유형 변경 기능을 제공하지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ADM-POST-03</a:t>
            </a:r>
          </a:p>
          <a:p xmlns:a="http://schemas.openxmlformats.org/drawingml/2006/main">
            <a:r>
              <a:t>화면 경로: contents-list.html#material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재배자료 목록</a:t>
            </a:r>
          </a:p>
          <a:p xmlns:a="http://schemas.openxmlformats.org/drawingml/2006/main">
            <a:r>
              <a:t>재배자료 게시판만 조회합니다. 월별 과원관리와 상시 재배력은 별도 메뉴에서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제목·첨부</a:t>
            </a:r>
          </a:p>
          <a:p xmlns:a="http://schemas.openxmlformats.org/drawingml/2006/main">
            <a:r>
              <a:t>제목을 선택하면 글을 수정합니다. 자료 본문·첨부파일·연결 자료는 게시글 등록·수정 규칙을 공통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등록 경로</a:t>
            </a:r>
          </a:p>
          <a:p xmlns:a="http://schemas.openxmlformats.org/drawingml/2006/main">
            <a:r>
              <a:t>재배자료 메뉴에서 신규등록하면 게시판을 고정합니다. 검색 결과가 없으면 빈 목록 안내를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목록 #material, 등록 contents-create.html#material. 기존 category=과원관리 게시글은 이 운영 목록에서 제외합니다.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ADM-POST-04</a:t>
            </a:r>
          </a:p>
          <a:p xmlns:a="http://schemas.openxmlformats.org/drawingml/2006/main">
            <a:r>
              <a:t>화면 경로: contents-list.html#notice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임시저장 전환</a:t>
            </a:r>
          </a:p>
          <a:p xmlns:a="http://schemas.openxmlformats.org/drawingml/2006/main">
            <a:r>
              <a:t>선택한 게시판의 임시저장 건수를 표시합니다. 버튼을 누르면 임시저장 목록으로 전환하고 다시 누르면 일반 목록으로 돌아갑니다.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이어서 작성</a:t>
            </a:r>
          </a:p>
          <a:p xmlns:a="http://schemas.openxmlformats.org/drawingml/2006/main">
            <a:r>
              <a:t>임시저장 제목을 누르면 저장된 입력값을 불러옵니다. 등록 완료 전에는 사용자 게시판에 공개하지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조회·등록</a:t>
            </a:r>
          </a:p>
          <a:p xmlns:a="http://schemas.openxmlformats.org/drawingml/2006/main">
            <a:r>
              <a:t>임시저장 조회 시 페이지는 1로 초기화합니다. 기간·키워드 조건은 적용하며 신규등록은 현재 게시판을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임시저장 자체 건수는 검색 결과 건수와 다릅니다. 일반 목록은 임시저장 데이터를 제외하며 임시저장 모드에서는 상태 필터를 적용하지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ADM-POST-05</a:t>
            </a:r>
          </a:p>
          <a:p xmlns:a="http://schemas.openxmlformats.org/drawingml/2006/main">
            <a:r>
              <a:t>화면 경로: contents-list.html#notice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선택 범위</a:t>
            </a:r>
          </a:p>
          <a:p xmlns:a="http://schemas.openxmlformats.org/drawingml/2006/main">
            <a:r>
              <a:t>행 체크박스와 전체 선택을 제공합니다. 선택된 글이 없으면 삭제 버튼을 비활성화합니다.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삭제 확인</a:t>
            </a:r>
          </a:p>
          <a:p xmlns:a="http://schemas.openxmlformats.org/drawingml/2006/main">
            <a:r>
              <a:t>선택 삭제 전 확인창을 표시합니다. 취소는 목록을 유지하고 삭제 확인 시 선택한 ID만 삭제합니다.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처리 결과</a:t>
            </a:r>
          </a:p>
          <a:p xmlns:a="http://schemas.openxmlformats.org/drawingml/2006/main">
            <a:r>
              <a:t>성공하면 목록과 임시저장 건수를 갱신합니다. 저장 실패 시 완료 처리하지 않고 오류 안내를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실제 운영에서는 서버 삭제와 연결 자료 접근 차단을 연동합니다. 현재 삭제는 브라우저 시연용 ContentStore에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ADM-POST-06</a:t>
            </a:r>
          </a:p>
          <a:p xmlns:a="http://schemas.openxmlformats.org/drawingml/2006/main">
            <a:r>
              <a:t>화면 경로: contents-create.html#notice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공개 상태</a:t>
            </a:r>
          </a:p>
          <a:p xmlns:a="http://schemas.openxmlformats.org/drawingml/2006/main">
            <a:r>
              <a:t>공개·비공개를 선택합니다. 공개 여부와 게시기간을 함께 적용해 사용자 화면 노출을 결정합니다.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채널·기간</a:t>
            </a:r>
          </a:p>
          <a:p xmlns:a="http://schemas.openxmlformats.org/drawingml/2006/main">
            <a:r>
              <a:t>Web·App 중 1개 이상 선택하고 게시 시작일을 입력합니다. 종료일 없음 선택 시 종료일 입력을 비활성화합니다.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상단 고정</a:t>
            </a:r>
          </a:p>
          <a:p xmlns:a="http://schemas.openxmlformats.org/drawingml/2006/main">
            <a:r>
              <a:t>공지사항에서만 표시합니다. 게시중인 고정 공지를 홈페이지 공지 목록 상단에 표시하며 긴급 홈 노출과 별도로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신규 게시 시작일은 오늘 날짜로 설정합니다. 게시판은 #notice에서 결정합니다. 채널이 없으면 비공개인 경우에도 현재 게시글 저장 검증이 차단합니다.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ADM-POST-07</a:t>
            </a:r>
          </a:p>
          <a:p xmlns:a="http://schemas.openxmlformats.org/drawingml/2006/main">
            <a:r>
              <a:t>화면 경로: contents-edit.html?id=10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긴급 사용</a:t>
            </a:r>
          </a:p>
          <a:p xmlns:a="http://schemas.openxmlformats.org/drawingml/2006/main">
            <a:r>
              <a:t>사용·미사용을 전환합니다. 사용 시 긴급 시작일·종료일을 모두 입력하며 종료일은 시작일보다 앞설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활성 조건</a:t>
            </a:r>
          </a:p>
          <a:p xmlns:a="http://schemas.openxmlformats.org/drawingml/2006/main">
            <a:r>
              <a:t>공개·게시기간·긴급기간을 모두 만족할 때 긴급 활성으로 판단합니다. 기간 종료·비공개 자료는 홈 긴급 노출에서 제외합니다.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저장과 발송</a:t>
            </a:r>
          </a:p>
          <a:p xmlns:a="http://schemas.openxmlformats.org/drawingml/2006/main">
            <a:r>
              <a:t>긴급 노출은 홈 안내 설정입니다. 공지 저장으로 알림을 발송하지 않으며 알림 업무는 자조금 통합 시스템에서 운영합니다.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기존 urgentOrder는 수정 시 유지합니다. 현재 최종 폼에는 홈 표시 순서 입력 UI가 없습니다. 긴급 홈 안내는 지정 순서의 수동 전환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ADM-POST-08</a:t>
            </a:r>
          </a:p>
          <a:p xmlns:a="http://schemas.openxmlformats.org/drawingml/2006/main">
            <a:r>
              <a:t>화면 경로: contents-create.html#info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게시판·제목</a:t>
            </a:r>
          </a:p>
          <a:p xmlns:a="http://schemas.openxmlformats.org/drawingml/2006/main">
            <a:r>
              <a:t>진입한 게시판은 고정합니다. 제목은 공백만으로 저장할 수 없으며 본문과 함께 필수입니다.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공개·긴급</a:t>
            </a:r>
          </a:p>
          <a:p xmlns:a="http://schemas.openxmlformats.org/drawingml/2006/main">
            <a:r>
              <a:t>공개·노출채널·기간·긴급설정은 공통입니다. 홈페이지 공지 상단 고정 항목은 공지사항에서만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본문·등록</a:t>
            </a:r>
          </a:p>
          <a:p xmlns:a="http://schemas.openxmlformats.org/drawingml/2006/main">
            <a:r>
              <a:t>본문은 필수이며 작성 후 등록합니다. 성공 확인 후 해당 게시판 목록에 복귀합니다. 재배자료도 같은 등록·검증 구조를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복숭아정보는 #info, 재배자료는 #material. 신규 및 임시저장 글은 임시저장을 제공하며 일반 게시글 수정에서는 임시저장으로 되돌리지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ADM-POST-09</a:t>
            </a:r>
          </a:p>
          <a:p xmlns:a="http://schemas.openxmlformats.org/drawingml/2006/main">
            <a:r>
              <a:t>화면 경로: contents-edit.html?id=10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자료 유형</a:t>
            </a:r>
          </a:p>
          <a:p xmlns:a="http://schemas.openxmlformats.org/drawingml/2006/main">
            <a:r>
              <a:t>자료 유형을 먼저 선택합니다. 유형에 따라 게시판과 연결 대상 선택을 활성화하고 필요 없는 단계는 사용하지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연결 대상</a:t>
            </a:r>
          </a:p>
          <a:p xmlns:a="http://schemas.openxmlformats.org/drawingml/2006/main">
            <a:r>
              <a:t>상시 재배력·월별 과원관리·교육영상·게시글의 식별값을 저장합니다. 게시글 연결 시 게시판을 먼저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사용자 연결</a:t>
            </a:r>
          </a:p>
          <a:p xmlns:a="http://schemas.openxmlformats.org/drawingml/2006/main">
            <a:r>
              <a:t>저장한 연결 자료는 앱 상세에서 이동에 사용합니다. 비공개·삭제 자료는 열리지 않도록 조회 시 다시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연결값은 relatedTarget에 저장합니다. 화면 목록의 표시 문구 대신 유형·연도·월·콘텐츠 ID를 보존합니다. 실제 대상 옵션은 content-links.js와 contents.js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ADM-POST-10</a:t>
            </a:r>
          </a:p>
          <a:p xmlns:a="http://schemas.openxmlformats.org/drawingml/2006/main">
            <a:r>
              <a:t>화면 경로: contents-create.html#material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본문 편집</a:t>
            </a:r>
          </a:p>
          <a:p xmlns:a="http://schemas.openxmlformats.org/drawingml/2006/main">
            <a:r>
              <a:t>디자인·HTML 모드를 제공하며 글꼴·크기·줄간격·문자 서식을 편집합니다. 본문이 비어 있으면 등록을 차단합니다.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여러 파일 첨부</a:t>
            </a:r>
          </a:p>
          <a:p xmlns:a="http://schemas.openxmlformats.org/drawingml/2006/main">
            <a:r>
              <a:t>파일 선택 또는 드래그로 여러 파일을 첨부하고 목록에서 개별 제거합니다. 실제 서버 업로드·다운로드를 연결해야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입력값 보존</a:t>
            </a:r>
          </a:p>
          <a:p xmlns:a="http://schemas.openxmlformats.org/drawingml/2006/main">
            <a:r>
              <a:t>선택 파일과 본문을 함께 저장합니다. 저장 오류가 나면 작성값을 유지하며 성공한 경우에만 완료창을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최종 게시글 폼에는 대표 이미지 입력이 없습니다. 첨부 원본은 ResourceStore의 별도 키를 참조해 시연 보관합니다. 운영 파일 용량·개수 제한은 최종 퍼블리싱에 명시되지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ADM-POST-11</a:t>
            </a:r>
          </a:p>
          <a:p xmlns:a="http://schemas.openxmlformats.org/drawingml/2006/main">
            <a:r>
              <a:t>화면 경로: contents-create.html#notice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기본 검증</a:t>
            </a:r>
          </a:p>
          <a:p xmlns:a="http://schemas.openxmlformats.org/drawingml/2006/main">
            <a:r>
              <a:t>게시판·노출채널·시작일·제목·본문을 확인합니다. 오류 항목 아래 안내를 표시하고 첫 오류 위치로 포커스를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날짜 검증</a:t>
            </a:r>
          </a:p>
          <a:p xmlns:a="http://schemas.openxmlformats.org/drawingml/2006/main">
            <a:r>
              <a:t>종료일이 시작일보다 빠르면 저장을 차단합니다. 긴급 사용 시 긴급기간 누락과 날짜 역전도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본문·임시저장</a:t>
            </a:r>
          </a:p>
          <a:p xmlns:a="http://schemas.openxmlformats.org/drawingml/2006/main">
            <a:r>
              <a:t>임시저장은 미완성 제목·본문을 허용합니다. 다만 게시기간과 긴급기간의 날짜가 역전되면 저장하지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게시글 코드에는 종료일 없음 미선택 시 종료일 누락을 명시적으로 차단하는 조건이 없습니다. 운영 필수 여부는 확인 필요이며 영상의 종료일 필수 검증과 혼용하지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ADM-POST-12</a:t>
            </a:r>
          </a:p>
          <a:p xmlns:a="http://schemas.openxmlformats.org/drawingml/2006/main">
            <a:r>
              <a:t>화면 경로: contents-edit.html?id=10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현재 입력값</a:t>
            </a:r>
          </a:p>
          <a:p xmlns:a="http://schemas.openxmlformats.org/drawingml/2006/main">
            <a:r>
              <a:t>저장 전 제목·본문을 모달로 확인합니다. 미리보기만으로 공개 상태나 저장 데이터를 변경하지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본문 표시</a:t>
            </a:r>
          </a:p>
          <a:p xmlns:a="http://schemas.openxmlformats.org/drawingml/2006/main">
            <a:r>
              <a:t>에디터 HTML을 표시하며 미리보기에서 script 요소를 제거합니다. 운영 본문 저장·출력의 HTML 정제는 서버와 함께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닫기·복귀</a:t>
            </a:r>
          </a:p>
          <a:p xmlns:a="http://schemas.openxmlformats.org/drawingml/2006/main">
            <a:r>
              <a:t>닫으면 입력값을 유지한 작성 화면으로 돌아갑니다. 첨부 원본이 있으면 열기를 제공하고 기존 파일명만 있으면 재선택을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미리보기는 앱 자료 상세 형태로 제목·본문·첨부·연결 자료를 표시합니다. 새 첨부 원본은 열기 링크로 확인하고 파일명만 남은 기존 첨부는 재선택을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ADM-POST-13</a:t>
            </a:r>
          </a:p>
          <a:p xmlns:a="http://schemas.openxmlformats.org/drawingml/2006/main">
            <a:r>
              <a:t>화면 경로: contents-create.html#notice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완료 처리</a:t>
            </a:r>
          </a:p>
          <a:p xmlns:a="http://schemas.openxmlformats.org/drawingml/2006/main">
            <a:r>
              <a:t>등록·임시저장·수정을 구분해 완료 문구를 표시합니다. 서버 연동 후에는 저장 응답 성공 시에만 완료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목록 복귀</a:t>
            </a:r>
          </a:p>
          <a:p xmlns:a="http://schemas.openxmlformats.org/drawingml/2006/main">
            <a:r>
              <a:t>확인 버튼은 진입한 게시판 목록으로 이동합니다. 목록의 수정일·상태·채널과 임시저장 건수를 새 데이터로 갱신합니다.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작성 중 취소</a:t>
            </a:r>
          </a:p>
          <a:p xmlns:a="http://schemas.openxmlformats.org/drawingml/2006/main">
            <a:r>
              <a:t>변경 내용이 있으면 이동 확인창을 표시합니다. 취소는 입력 유지, 이동은 저장하지 않고 목록으로 복귀합니다.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contents-edit.html?id={id}로 기존 데이터를 불러옵니다. 일반 글 수정은 저장·삭제를 제공하고 삭제 확인 후 해당 게시판 목록으로 돌아갑니다.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ADM-ORCHARD-01</a:t>
            </a:r>
          </a:p>
          <a:p xmlns:a="http://schemas.openxmlformats.org/drawingml/2006/main">
            <a:r>
              <a:t>화면 경로: orchard-content.html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연도 선택</a:t>
            </a:r>
          </a:p>
          <a:p xmlns:a="http://schemas.openxmlformats.org/drawingml/2006/main">
            <a:r>
              <a:t>선택한 연도의 1~12월을 표시합니다. 저장·시연·미등록 개월 수를 구분하고 해당 연도·월 콘텐츠를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월별 관리</a:t>
            </a:r>
          </a:p>
          <a:p xmlns:a="http://schemas.openxmlformats.org/drawingml/2006/main">
            <a:r>
              <a:t>제목·준비 상태·공개 상태·채널·수정일을 표시합니다. 자료가 있으면 수정, 없으면 등록 화면으로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콘텐츠 키</a:t>
            </a:r>
          </a:p>
          <a:p xmlns:a="http://schemas.openxmlformats.org/drawingml/2006/main">
            <a:r>
              <a:t>같은 연도·월은 한 건으로 관리합니다. 과원관리 자료는 게시글의 재배자료 게시판과 별도로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저장 키 orchard:{year}:{month}. 현재 연도·월 행을 표시하며 초기 2026년은 시연 12개월입니다. 삭제한 시연 자료를 다시 초기값으로 되살리지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ADM-ORCHARD-02</a:t>
            </a:r>
          </a:p>
          <a:p xmlns:a="http://schemas.openxmlformats.org/drawingml/2006/main">
            <a:r>
              <a:t>화면 경로: orchard-content.html?year=2027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다음 해 준비</a:t>
            </a:r>
          </a:p>
          <a:p xmlns:a="http://schemas.openxmlformats.org/drawingml/2006/main">
            <a:r>
              <a:t>연도를 바꾸면 해당 연도 12개월을 조회합니다. 미등록 월은 등록으로 표시하고 다음 해 자료를 사전에 작성할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공개와 등록</a:t>
            </a:r>
          </a:p>
          <a:p xmlns:a="http://schemas.openxmlformats.org/drawingml/2006/main">
            <a:r>
              <a:t>사전 등록과 공개는 별도입니다. 자동 일괄 공개를 제공하지 않으며 월별 화면에서 채널과 공개 상태를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사용자 조회</a:t>
            </a:r>
          </a:p>
          <a:p xmlns:a="http://schemas.openxmlformats.org/drawingml/2006/main">
            <a:r>
              <a:t>앱은 올해 같은 월의 공개·App 자료를 우선 사용합니다. 없으면 작년 같은 월을 유지하고 둘 다 없으면 자료 없음으로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등록 폼의 현재 초기 공개값은 공개입니다. 과거 README의 다음 해 기본 비공개 설명보다 최종 폼을 우선합니다. 사전 등록 시 비공개 필요 여부는 운영 결정 사항입니다.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ADM-ORCHARD-03</a:t>
            </a:r>
          </a:p>
          <a:p xmlns:a="http://schemas.openxmlformats.org/drawingml/2006/main">
            <a:r>
              <a:t>화면 경로: monthly-content-form.html?type=orchard&amp;year=2027&amp;month=1&amp;mode=create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대상·제목</a:t>
            </a:r>
          </a:p>
          <a:p xmlns:a="http://schemas.openxmlformats.org/drawingml/2006/main">
            <a:r>
              <a:t>목록에서 선택한 연도·월을 표시합니다. 제목은 필수이며 같은 유형·연도·월의 중복 등록을 허용하지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썸네일</a:t>
            </a:r>
          </a:p>
          <a:p xmlns:a="http://schemas.openxmlformats.org/drawingml/2006/main">
            <a:r>
              <a:t>PNG·JPG·WebP를 선택·변경·제거합니다. 썸네일과 실제 본문 이미지는 각각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채널·공개</a:t>
            </a:r>
          </a:p>
          <a:p xmlns:a="http://schemas.openxmlformats.org/drawingml/2006/main">
            <a:r>
              <a:t>Web·App을 각각 선택하고 공개·비공개를 저장합니다. 채널은 1개 이상 필수이며 선택한 채널마다 본문 이미지를 첨부합니다.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정상 진입은 type=orchard&amp;year=YYYY&amp;month=M&amp;mode=create|edit. 유형·연도·월·모드 또는 대상이 유효하지 않으면 폼 대신 오류와 목록 이동을 제공합니다.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ADM-ORCHARD-04</a:t>
            </a:r>
          </a:p>
          <a:p xmlns:a="http://schemas.openxmlformats.org/drawingml/2006/main">
            <a:r>
              <a:t>화면 경로: monthly-content-form.html?type=orchard&amp;year=2026&amp;month=2&amp;mode=edit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Web 이미지</a:t>
            </a:r>
          </a:p>
          <a:p xmlns:a="http://schemas.openxmlformats.org/drawingml/2006/main">
            <a:r>
              <a:t>여러 이미지를 선택하거나 드래그해 추가합니다. 각 이미지의 위·아래 이동과 삭제로 본문 순서를 구성합니다.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App 이미지</a:t>
            </a:r>
          </a:p>
          <a:p xmlns:a="http://schemas.openxmlformats.org/drawingml/2006/main">
            <a:r>
              <a:t>App용 이미지 목록은 Web과 독립적으로 관리합니다. 채널 해제 시 입력을 비활성화하고 선택 채널에 맞춰 미리보기를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순서·삭제</a:t>
            </a:r>
          </a:p>
          <a:p xmlns:a="http://schemas.openxmlformats.org/drawingml/2006/main">
            <a:r>
              <a:t>위·아래 버튼으로 이미지 순서를 바꾸고 개별 삭제합니다. 선택 채널은 이미지 1장 이상이 필수이며 실제 저장은 서버 연결이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이미지 선택 후 예시 화면입니다. 초기 2026년 시연 자료에는 채널별 본문 이미지가 없습니다. 운영 데이터의 webImages/appImages, 순서·파일 저장을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ADM-ORCHARD-05</a:t>
            </a:r>
          </a:p>
          <a:p xmlns:a="http://schemas.openxmlformats.org/drawingml/2006/main">
            <a:r>
              <a:t>화면 경로: monthly-content-form.html?type=orchard&amp;year=2026&amp;month=2&amp;mode=edit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저장 전 확인</a:t>
            </a:r>
          </a:p>
          <a:p xmlns:a="http://schemas.openxmlformats.org/drawingml/2006/main">
            <a:r>
              <a:t>자료 유형·연도·월·제목·공개 상태와 현재 첨부 이미지를 확인합니다. 미리보기는 저장을 실행하지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채널 전환</a:t>
            </a:r>
          </a:p>
          <a:p xmlns:a="http://schemas.openxmlformats.org/drawingml/2006/main">
            <a:r>
              <a:t>두 채널 선택 시 Web·App 탭을 표시합니다. 한 채널만 선택하면 해당 이미지로 표시하고 미선택 채널은 노출하지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빈값 안내</a:t>
            </a:r>
          </a:p>
          <a:p xmlns:a="http://schemas.openxmlformats.org/drawingml/2006/main">
            <a:r>
              <a:t>채널이 없으면 채널 미선택, 이미지가 없으면 첨부 이미지 없음으로 안내합니다. 닫기 후 입력값과 이미지 순서를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이미지 선택 후 예시입니다. 선택 채널의 이미지를 순서대로 표시합니다. 미리보기 입력값과 마지막 저장값은 구분하며 현재 등록·수정은 서버 미연결 상태입니다.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ADM-ORCHARD-07</a:t>
            </a:r>
          </a:p>
          <a:p xmlns:a="http://schemas.openxmlformats.org/drawingml/2006/main">
            <a:r>
              <a:t>화면 경로: monthly-content-form.html?type=orchard&amp;year=2026&amp;month=2&amp;mode=edit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현재 처리</a:t>
            </a:r>
          </a:p>
          <a:p xmlns:a="http://schemas.openxmlformats.org/drawingml/2006/main">
            <a:r>
              <a:t>검증을 통과해도 서버 미연결 안내만 표시합니다. 등록·수정으로 월별 콘텐츠·게시글·브라우저 저장값을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저장 요청 개발</a:t>
            </a:r>
          </a:p>
          <a:p xmlns:a="http://schemas.openxmlformats.org/drawingml/2006/main">
            <a:r>
              <a:t>유형·연도·월·제목·공개 상태·채널·썸네일·채널별 이미지와 순서를 전송합니다. 서버에서 대상 존재와 중복 여부를 다시 검증합니다.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성공·실패 개발</a:t>
            </a:r>
          </a:p>
          <a:p xmlns:a="http://schemas.openxmlformats.org/drawingml/2006/main">
            <a:r>
              <a:t>서버 저장 성공 후 선택 연도 목록으로 돌아가 상태·수정일을 갱신합니다. 실패 시 입력값을 유지하고 완료로 처리하지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등록은 같은 유형·연도·월 중복을 차단하고 수정은 존재하는 자료만 허용합니다. 현재 검증 함수는 서버 검증 예시이며 실제 API가 연결된 상태는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ADM-ORCHARD-06</a:t>
            </a:r>
          </a:p>
          <a:p xmlns:a="http://schemas.openxmlformats.org/drawingml/2006/main">
            <a:r>
              <a:t>화면 경로: monthly-content-form.html?type=orchard&amp;year=2026&amp;month=2&amp;mode=edit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삭제 진입</a:t>
            </a:r>
          </a:p>
          <a:p xmlns:a="http://schemas.openxmlformats.org/drawingml/2006/main">
            <a:r>
              <a:t>등록된 월의 수정 화면에서만 삭제 버튼을 표시합니다. 삭제 전 확인하고 취소 시 기존 입력 상태로 돌아갑니다.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삭제 결과</a:t>
            </a:r>
          </a:p>
          <a:p xmlns:a="http://schemas.openxmlformats.org/drawingml/2006/main">
            <a:r>
              <a:t>해당 연도·월 콘텐츠를 삭제한 뒤 연도별 목록으로 복귀합니다. 사용자 조회와 홈 노출에서도 삭제 자료를 제외합니다.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이탈·오류</a:t>
            </a:r>
          </a:p>
          <a:p xmlns:a="http://schemas.openxmlformats.org/drawingml/2006/main">
            <a:r>
              <a:t>수정 중 목록 이동은 미저장 확인을 제공합니다. 중복 등록·없는 대상 수정·잘못된 URL은 저장하지 않고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삭제 결과는 orchard-content.html?year={year}&amp;deleted=1로 이동합니다. 연도·월 중복과 대상 존재 여부는 서버 저장 시에도 다시 검증해야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ADM-CALENDAR-01</a:t>
            </a:r>
          </a:p>
          <a:p xmlns:a="http://schemas.openxmlformats.org/drawingml/2006/main">
            <a:r>
              <a:t>화면 경로: cultivation-content.html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자료 제목</a:t>
            </a:r>
          </a:p>
          <a:p xmlns:a="http://schemas.openxmlformats.org/drawingml/2006/main">
            <a:r>
              <a:t>상시 재배력은 월별 12건과 구분해 한 자료로 관리합니다. 제목은 필수이며 기존 자료를 불러와 수정합니다.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썸네일</a:t>
            </a:r>
          </a:p>
          <a:p xmlns:a="http://schemas.openxmlformats.org/drawingml/2006/main">
            <a:r>
              <a:t>홈·목록에서 사용할 이미지를 선택·변경·제거합니다. 허용 형식은 PNG·JPG·WebP입니다.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공개·채널</a:t>
            </a:r>
          </a:p>
          <a:p xmlns:a="http://schemas.openxmlformats.org/drawingml/2006/main">
            <a:r>
              <a:t>공개 상태와 Web·App 노출을 각각 저장합니다. 공개 상태로 저장할 때 채널을 1개 이상 선택해야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상시 재배력 저장 키와 구조는 ResourceStore의 calendar 레코드를 사용합니다. 회원 알림 발송은 이 화면의 저장 업무에 포함하지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ADM-CALENDAR-02</a:t>
            </a:r>
          </a:p>
          <a:p xmlns:a="http://schemas.openxmlformats.org/drawingml/2006/main">
            <a:r>
              <a:t>화면 경로: cultivation-content.html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Web 본문</a:t>
            </a:r>
          </a:p>
          <a:p xmlns:a="http://schemas.openxmlformats.org/drawingml/2006/main">
            <a:r>
              <a:t>여러 JPG·JPEG·PNG·WebP 이미지를 추가하고 순서를 바꾸거나 개별 삭제합니다. PDF 업로드 방식은 최종 갤러리 UI에서 제공하지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App 본문</a:t>
            </a:r>
          </a:p>
          <a:p xmlns:a="http://schemas.openxmlformats.org/drawingml/2006/main">
            <a:r>
              <a:t>App 본문은 별도 이미지 목록으로 관리합니다. 선택 해제 채널은 이미지 편집을 비활성화하며 순서를 독립적으로 보존합니다.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채널별 저장</a:t>
            </a:r>
          </a:p>
          <a:p xmlns:a="http://schemas.openxmlformats.org/drawingml/2006/main">
            <a:r>
              <a:t>선택 채널을 바꿔도 이미지 목록을 구분합니다. 저장 성공 시 재조회하고 실패 시 오류를 표시해 입력값을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최종 상시 재배력 검증은 제목과 공개 시 채널 선택을 검사합니다. 선택 채널 이미지 1장 필수 검증은 월별 과원관리와 달리 명시되어 있지 않아 운영 확인이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ADM-CALENDAR-03</a:t>
            </a:r>
          </a:p>
          <a:p xmlns:a="http://schemas.openxmlformats.org/drawingml/2006/main">
            <a:r>
              <a:t>화면 경로: cultivation-content.html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자료 확인</a:t>
            </a:r>
          </a:p>
          <a:p xmlns:a="http://schemas.openxmlformats.org/drawingml/2006/main">
            <a:r>
              <a:t>저장 전 App 미리보기에서 재배력 제목·이미지 구성을 확인합니다. 닫으면 편집 화면으로 복귀합니다.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본문 스크롤</a:t>
            </a:r>
          </a:p>
          <a:p xmlns:a="http://schemas.openxmlformats.org/drawingml/2006/main">
            <a:r>
              <a:t>선택한 App 이미지를 등록 순서대로 표시합니다. 본문을 아래로 스크롤해 확인하며 현재 갤러리 미리보기에는 별도 확대 기능이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닫기·복귀</a:t>
            </a:r>
          </a:p>
          <a:p xmlns:a="http://schemas.openxmlformats.org/drawingml/2006/main">
            <a:r>
              <a:t>닫으면 편집 화면으로 돌아갑니다. 미리보기는 현재 입력값이며 실제 앱의 자료 조회는 저장값·공개 상태·채널을 적용해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최종 갤러리 미리보기에는 실제 앱 검수 링크가 표시되지 않습니다. 이전 단·표 블록의 확대·앱 검수 링크 설명을 이번 화면 기능으로 적용하지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ADM-HOME-03</a:t>
            </a:r>
          </a:p>
          <a:p xmlns:a="http://schemas.openxmlformats.org/drawingml/2006/main">
            <a:r>
              <a:t>화면 경로: home-content-preview.html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검수 대상</a:t>
            </a:r>
          </a:p>
          <a:p xmlns:a="http://schemas.openxmlformats.org/drawingml/2006/main">
            <a:r>
              <a:t>관리자에서 검수 연도·월을 바꿔 자료를 확인합니다. 실제 앱에는 연도 선택 없이 현재 월 기준 자료를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자동 전환</a:t>
            </a:r>
          </a:p>
          <a:p xmlns:a="http://schemas.openxmlformats.org/drawingml/2006/main">
            <a:r>
              <a:t>월별 과원관리를 먼저 표시하고 7초마다 재배력으로 전환합니다. 수동 이동 후 자동 전환을 멈추며 홈 재진입 시 다시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노출·이동</a:t>
            </a:r>
          </a:p>
          <a:p xmlns:a="http://schemas.openxmlformats.org/drawingml/2006/main">
            <a:r>
              <a:t>공개 자료가 하나면 하나만 표시합니다. 올해 월 자료가 없으면 작년 같은 월을 조회하며 자료 선택 시 해당 상세로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home-content-preview.html은 앱 홈 연결 검수용이며 index.html의 홈페이지 콘텐츠 관리와 구분합니다. 실제 동작은 저장된 자료의 앱 검수 링크에서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ADM-VIDEO-01</a:t>
            </a:r>
          </a:p>
          <a:p xmlns:a="http://schemas.openxmlformats.org/drawingml/2006/main">
            <a:r>
              <a:t>화면 경로: videos-list.html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조회 조건</a:t>
            </a:r>
          </a:p>
          <a:p xmlns:a="http://schemas.openxmlformats.org/drawingml/2006/main">
            <a:r>
              <a:t>수집상태·홈 노출·분류·키워드로 조회합니다. 제목 선택은 해당 영상 상세 관리 화면으로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홈 우선 표시</a:t>
            </a:r>
          </a:p>
          <a:p xmlns:a="http://schemas.openxmlformats.org/drawingml/2006/main">
            <a:r>
              <a:t>현재 홈에 노출 중인 영상을 위에 표시하고 배경으로 구분합니다. 채널 배지는 홈 선정과 별도로 공개된 Web·App을 나타냅니다.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수집 연결</a:t>
            </a:r>
          </a:p>
          <a:p xmlns:a="http://schemas.openxmlformats.org/drawingml/2006/main">
            <a:r>
              <a:t>목록 새로고침과 최근 수집 시간을 제공합니다. 현재 외부 수집 API는 미연결이며 실제 수집 결과 없이 완료 처리하지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수집 영상 원본 ID·제목·길이·재생 가능 여부를 보존합니다. 비공개·기간 종료·재생 불가 영상은 현재 홈 노출 표시에서 제외하며 자동 대체하지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ADM-VIDEO-02</a:t>
            </a:r>
          </a:p>
          <a:p xmlns:a="http://schemas.openxmlformats.org/drawingml/2006/main">
            <a:r>
              <a:t>화면 경로: videos-detail.html?id=8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공개·기간</a:t>
            </a:r>
          </a:p>
          <a:p xmlns:a="http://schemas.openxmlformats.org/drawingml/2006/main">
            <a:r>
              <a:t>공개 상태, 노출채널, 시작일·종료일을 저장합니다. 종료일 없음 미선택 시 종료일이 필수이며 날짜 역전을 허용하지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채널별 홈 선정</a:t>
            </a:r>
          </a:p>
          <a:p xmlns:a="http://schemas.openxmlformats.org/drawingml/2006/main">
            <a:r>
              <a:t>Web 메인과 App 메인을 독립적으로 선택합니다. 해당 노출채널을 해제하면 그 채널의 메인 선택을 비활성화합니다.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App 대표 조건</a:t>
            </a:r>
          </a:p>
          <a:p xmlns:a="http://schemas.openxmlformats.org/drawingml/2006/main">
            <a:r>
              <a:t>App 공개·재생 가능·현재 게시기간을 모두 만족한 영상만 선정합니다. 앱 홈 대표 영상은 한 개이며 Web 홈 선정은 별도입니다.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channels와 homeChannels를 별도 저장합니다. 홈 체크를 단순 공개와 혼용하지 않습니다. App 선정 이후 비공개·기간 종료 시 숨기고 다른 영상으로 자동 교체하지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ADM-VIDEO-03</a:t>
            </a:r>
          </a:p>
          <a:p xmlns:a="http://schemas.openxmlformats.org/drawingml/2006/main">
            <a:r>
              <a:t>화면 경로: videos-detail.html?id=8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원본과 분류</a:t>
            </a:r>
          </a:p>
          <a:p xmlns:a="http://schemas.openxmlformats.org/drawingml/2006/main">
            <a:r>
              <a:t>원본 ID·재생 정보는 조회하고 원본영상 보기를 제공합니다. 가공 분류는 재배기술·생육단계 중 선택하며 필수입니다.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표시 제목·설명</a:t>
            </a:r>
          </a:p>
          <a:p xmlns:a="http://schemas.openxmlformats.org/drawingml/2006/main">
            <a:r>
              <a:t>표시 제목은 필수, 설명은 선택입니다. 원본 제목과 사용자에게 보여 줄 표시 제목을 구분해 보존합니다.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관련자료</a:t>
            </a:r>
          </a:p>
          <a:p xmlns:a="http://schemas.openxmlformats.org/drawingml/2006/main">
            <a:r>
              <a:t>PDF·PNG·JPG 중 한 파일을 선택하고 제거할 수 있습니다. 현재 선택값을 저장하며 실제 파일 업로드·다운로드를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저장 필수값은 표시 제목·허용 분류·시작일과 공개 시 채널입니다. 관련자료는 attachment 단일 필드이며 여러 파일 첨부인 게시글과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ADM-VIDEO-04</a:t>
            </a:r>
          </a:p>
          <a:p xmlns:a="http://schemas.openxmlformats.org/drawingml/2006/main">
            <a:r>
              <a:t>화면 경로: videos-detail.html?id=7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교체 확인</a:t>
            </a:r>
          </a:p>
          <a:p xmlns:a="http://schemas.openxmlformats.org/drawingml/2006/main">
            <a:r>
              <a:t>다른 App 대표 영상이 있으면 현재 영상과 변경 영상을 표시해 교체 여부를 확인합니다. 취소하면 저장하지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교체 후 저장</a:t>
            </a:r>
          </a:p>
          <a:p xmlns:a="http://schemas.openxmlformats.org/drawingml/2006/main">
            <a:r>
              <a:t>확인 시 기존 영상의 App 메인 선정을 해제하고 새 영상의 선정을 함께 저장합니다. 실패 시 일부만 교체되지 않도록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유지되는 설정</a:t>
            </a:r>
          </a:p>
          <a:p xmlns:a="http://schemas.openxmlformats.org/drawingml/2006/main">
            <a:r>
              <a:t>기존 Web 홈 선정과 영상 목록의 최신순 기준은 유지합니다. App 대표 선정은 Web 메인 노출을 강제로 변경하지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ResourceStore.putMany로 기존·신규 레코드를 함께 저장합니다. 운영 서버에서도 대표 영상 1개 제약과 동시 저장을 보장해야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ADM-VIDEO-05</a:t>
            </a:r>
          </a:p>
          <a:p xmlns:a="http://schemas.openxmlformats.org/drawingml/2006/main">
            <a:r>
              <a:t>화면 경로: videos-detail.html?id=8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상세 확인</a:t>
            </a:r>
          </a:p>
          <a:p xmlns:a="http://schemas.openxmlformats.org/drawingml/2006/main">
            <a:r>
              <a:t>저장 전 제목·분류·설명·썸네일·첨부를 확인합니다. 미리보기도 필수값 검증을 먼저 수행하며 실제 영상 재생은 미연결입니다.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파일 미리보기</a:t>
            </a:r>
          </a:p>
          <a:p xmlns:a="http://schemas.openxmlformats.org/drawingml/2006/main">
            <a:r>
              <a:t>선택한 관련자료를 열어 확인하고 닫으면 영상 상세로 복귀합니다. 실제 이용자는 공개·기간·채널 조건에 따라 접근합니다.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저장 결과</a:t>
            </a:r>
          </a:p>
          <a:p xmlns:a="http://schemas.openxmlformats.org/drawingml/2006/main">
            <a:r>
              <a:t>저장 성공 시 영상 목록으로 복귀합니다. 오류 시 안내창을 표시하고 입력값을 유지하며 저장 버튼을 다시 활성화합니다.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첨부 선택 후 예시입니다. Blob 원본은 새 창 열기 링크를 제공하고 이름만 있는 기존 첨부는 파일명만 표시합니다. 재생은 이미지에 보이는 재생 버튼과 별개로 연동 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ADM-VIDEO-06</a:t>
            </a:r>
          </a:p>
          <a:p xmlns:a="http://schemas.openxmlformats.org/drawingml/2006/main">
            <a:r>
              <a:t>화면 경로: videos-detail.html?id=8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영상 삭제</a:t>
            </a:r>
          </a:p>
          <a:p xmlns:a="http://schemas.openxmlformats.org/drawingml/2006/main">
            <a:r>
              <a:t>삭제 버튼은 확인창을 엽니다. 확인 후 관리 대상 영상을 삭제 처리하고 영상 목록으로 이동합니다.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사용자 반영</a:t>
            </a:r>
          </a:p>
          <a:p xmlns:a="http://schemas.openxmlformats.org/drawingml/2006/main">
            <a:r>
              <a:t>삭제한 영상은 목록·홈·연결 자료 대상에서 제외합니다. 외부 유튜브 원본 영상 자체를 삭제하는 기능은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미저장 이탈</a:t>
            </a:r>
          </a:p>
          <a:p xmlns:a="http://schemas.openxmlformats.org/drawingml/2006/main">
            <a:r>
              <a:t>변경 후 목록으로 이동하면 확인창을 표시합니다. 저장하지 않고 이동 또는 작성 계속을 선택하며 없는 영상 ID는 오류로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현재 deleted=true로 시연 저장합니다. 영상 원본 삭제·외부 플랫폼 제어 기능을 신규 범위로 해석하지 않습니다. 저장·삭제 실패는 완료 처리하지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ADM-PERM-01</a:t>
            </a:r>
          </a:p>
          <a:p xmlns:a="http://schemas.openxmlformats.org/drawingml/2006/main">
            <a:r>
              <a:t>화면 경로: permissions.html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운영자 선택</a:t>
            </a:r>
          </a:p>
          <a:p xmlns:a="http://schemas.openxmlformats.org/drawingml/2006/main">
            <a:r>
              <a:t>운영자를 선택하면 사용·미사용 상태와 해당 권한을 조회합니다. 선택 운영자 ID를 주소에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업무별 권한</a:t>
            </a:r>
          </a:p>
          <a:p xmlns:a="http://schemas.openxmlformats.org/drawingml/2006/main">
            <a:r>
              <a:t>공지·게시글, 교육영상, 상시 재배력, 월별 과원관리의 작성·게시 권한을 표시합니다. 조회 화면에서는 체크를 변경하지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수정 이동</a:t>
            </a:r>
          </a:p>
          <a:p xmlns:a="http://schemas.openxmlformats.org/drawingml/2006/main">
            <a:r>
              <a:t>권한 수정 버튼으로 선택 운영자의 수정 화면을 엽니다. 행사·설문·기관정보 업무는 현재 권한 대상에 포함하지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결과 조회·다운로드 열은 지원하지 않는 업무에 대시로 표시합니다. 현재 데이터는 MockData.operators이며 실제 운영자 조회·권한 적용 API는 미연결입니다.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ADM-PERM-02</a:t>
            </a:r>
          </a:p>
          <a:p xmlns:a="http://schemas.openxmlformats.org/drawingml/2006/main">
            <a:r>
              <a:t>화면 경로: permissions-edit.html?operator=operator-a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권한 편집</a:t>
            </a:r>
          </a:p>
          <a:p xmlns:a="http://schemas.openxmlformats.org/drawingml/2006/main">
            <a:r>
              <a:t>운영자와 업무별 작성·게시 권한을 변경합니다. 지원하지 않는 권한은 체크 입력을 제공하지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기존 권한 불러오기</a:t>
            </a:r>
          </a:p>
          <a:p xmlns:a="http://schemas.openxmlformats.org/drawingml/2006/main">
            <a:r>
              <a:t>변경 내용이 있으면 취소 여부를 확인한 뒤 기존 권한으로 되돌립니다. 운영자 전환과 목록 이동도 미저장 확인을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저장 연결 필요</a:t>
            </a:r>
          </a:p>
          <a:p xmlns:a="http://schemas.openxmlformats.org/drawingml/2006/main">
            <a:r>
              <a:t>현재 저장 버튼은 시연 안내만 표시하며 권한을 영구 저장하지 않습니다. 서버 저장과 실제 화면·작업 권한 검사를 함께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변경 없음은 별도 안내. 미확인 운영자 ID는 찾을 수 없음과 목록 복귀를 제공합니다. 작성·게시 권한의 상세 허용 작업과 적용 시점은 운영 정책 확인이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ID: ADM-PERM-03</a:t>
            </a:r>
          </a:p>
          <a:p xmlns:a="http://schemas.openxmlformats.org/drawingml/2006/main">
            <a:r>
              <a:t>화면 경로: permissions-edit.html?operator=operator-a</a:t>
            </a:r>
          </a:p>
          <a:p xmlns:a="http://schemas.openxmlformats.org/drawingml/2006/main"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 xmlns:a="http://schemas.openxmlformats.org/drawingml/2006/main">
            <a:r>
              <a:t>① 확인 대상</a:t>
            </a:r>
          </a:p>
          <a:p xmlns:a="http://schemas.openxmlformats.org/drawingml/2006/main">
            <a:r>
              <a:t>체크를 변경한 상태에서 기존 권한 불러오기·운영자 전환·목록 이동 시 변경 내용을 취소할지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취소·확인</a:t>
            </a:r>
          </a:p>
          <a:p xmlns:a="http://schemas.openxmlformats.org/drawingml/2006/main">
            <a:r>
              <a:t>취소하면 현재 편집값을 유지합니다. 확인하면 요청한 이동 또는 기존 권한 복원을 실행합니다.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운영 범위</a:t>
            </a:r>
          </a:p>
          <a:p xmlns:a="http://schemas.openxmlformats.org/drawingml/2006/main">
            <a:r>
              <a:t>회원·납부·증명서·알림 발송은 기존 자조금 통합 시스템에서 담당합니다. 현재 관리자에는 해당 관리 기능을 추가하지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개발 연결·확인</a:t>
            </a:r>
          </a:p>
          <a:p xmlns:a="http://schemas.openxmlformats.org/drawingml/2006/main">
            <a:r>
              <a:t>직접 주소로 행사·설문·알림 검토 화면에 진입하면 게시글 목록으로 이동합니다. components.html과 docs/survey-*는 컴포넌트·보존 참고자료이며 개발 화면 목록에서 제외합니다.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a50942e2542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f0e14b4c584943" /><Relationship Type="http://schemas.openxmlformats.org/officeDocument/2006/relationships/slideLayout" Target="/ppt/slideLayouts/slideLayout1.xml" Id="R5fdc0125ba0a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c0125ba0a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db0db449b4021" /><Relationship Type="http://schemas.openxmlformats.org/officeDocument/2006/relationships/image" Target="/ppt/media/image.png" Id="R693f2bb6de064263" /><Relationship Type="http://schemas.openxmlformats.org/officeDocument/2006/relationships/notesSlide" Target="/ppt/notesSlides/notesSlide1.xml" Id="R8a1fc1497488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9916a089f48ff" /><Relationship Type="http://schemas.openxmlformats.org/officeDocument/2006/relationships/image" Target="/ppt/media/image2.png" Id="R7b620bf2c9b44c17" /><Relationship Type="http://schemas.openxmlformats.org/officeDocument/2006/relationships/notesSlide" Target="/ppt/notesSlides/notesSlide2.xml" Id="R12bb2cfc0f0147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b8d77bd604929" /><Relationship Type="http://schemas.openxmlformats.org/officeDocument/2006/relationships/image" Target="/ppt/media/image3.png" Id="R03787e5a23524a81" /><Relationship Type="http://schemas.openxmlformats.org/officeDocument/2006/relationships/notesSlide" Target="/ppt/notesSlides/notesSlide3.xml" Id="R4b2cdf0275844e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72cce22854a79" /><Relationship Type="http://schemas.openxmlformats.org/officeDocument/2006/relationships/image" Target="/ppt/media/image4.png" Id="R39ec2c31c41d4ce9" /><Relationship Type="http://schemas.openxmlformats.org/officeDocument/2006/relationships/notesSlide" Target="/ppt/notesSlides/notesSlide4.xml" Id="R7c9e68b1f6bd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aba31025f4852" /><Relationship Type="http://schemas.openxmlformats.org/officeDocument/2006/relationships/image" Target="/ppt/media/image5.png" Id="R85d33ed7130f437b" /><Relationship Type="http://schemas.openxmlformats.org/officeDocument/2006/relationships/notesSlide" Target="/ppt/notesSlides/notesSlide5.xml" Id="R216ee98d405346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fab5870744da3" /><Relationship Type="http://schemas.openxmlformats.org/officeDocument/2006/relationships/image" Target="/ppt/media/image6.png" Id="Rc5d0f28837574ddc" /><Relationship Type="http://schemas.openxmlformats.org/officeDocument/2006/relationships/notesSlide" Target="/ppt/notesSlides/notesSlide6.xml" Id="Rb6183b10bd31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a35566d664fea" /><Relationship Type="http://schemas.openxmlformats.org/officeDocument/2006/relationships/image" Target="/ppt/media/image7.png" Id="R3eee413a98104262" /><Relationship Type="http://schemas.openxmlformats.org/officeDocument/2006/relationships/notesSlide" Target="/ppt/notesSlides/notesSlide7.xml" Id="Rbad716b5f5654c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384807db84b84" /><Relationship Type="http://schemas.openxmlformats.org/officeDocument/2006/relationships/image" Target="/ppt/media/image8.png" Id="R75fce48085d14a7c" /><Relationship Type="http://schemas.openxmlformats.org/officeDocument/2006/relationships/notesSlide" Target="/ppt/notesSlides/notesSlide8.xml" Id="Rdb42f56b1f2344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e6d73fedc442e" /><Relationship Type="http://schemas.openxmlformats.org/officeDocument/2006/relationships/image" Target="/ppt/media/image9.png" Id="R957a4ca09cd94876" /><Relationship Type="http://schemas.openxmlformats.org/officeDocument/2006/relationships/notesSlide" Target="/ppt/notesSlides/notesSlide9.xml" Id="Rd0bd991b9ee5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37a01735041cb" /><Relationship Type="http://schemas.openxmlformats.org/officeDocument/2006/relationships/image" Target="/ppt/media/image10.png" Id="R4482fbc549614a21" /><Relationship Type="http://schemas.openxmlformats.org/officeDocument/2006/relationships/notesSlide" Target="/ppt/notesSlides/notesSlide10.xml" Id="Rd0c696a7e80d44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f9ca2990645aa" /><Relationship Type="http://schemas.openxmlformats.org/officeDocument/2006/relationships/image" Target="/ppt/media/image11.png" Id="R089002d32b114299" /><Relationship Type="http://schemas.openxmlformats.org/officeDocument/2006/relationships/notesSlide" Target="/ppt/notesSlides/notesSlide11.xml" Id="Rba7e1e43dd5b43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52586c7644c7" /><Relationship Type="http://schemas.openxmlformats.org/officeDocument/2006/relationships/image" Target="/ppt/media/image12.png" Id="Rbc96d53f55b64f2f" /><Relationship Type="http://schemas.openxmlformats.org/officeDocument/2006/relationships/notesSlide" Target="/ppt/notesSlides/notesSlide12.xml" Id="Redbfc654826f40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7c556434d473e" /><Relationship Type="http://schemas.openxmlformats.org/officeDocument/2006/relationships/image" Target="/ppt/media/image13.png" Id="R1b9328d2f6b3454f" /><Relationship Type="http://schemas.openxmlformats.org/officeDocument/2006/relationships/notesSlide" Target="/ppt/notesSlides/notesSlide13.xml" Id="R3d973eef5b3649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5d6ad65a44fc6" /><Relationship Type="http://schemas.openxmlformats.org/officeDocument/2006/relationships/image" Target="/ppt/media/image14.png" Id="Raed715577f0e49b1" /><Relationship Type="http://schemas.openxmlformats.org/officeDocument/2006/relationships/notesSlide" Target="/ppt/notesSlides/notesSlide14.xml" Id="R98b2e265095f44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b056e26ec44f2" /><Relationship Type="http://schemas.openxmlformats.org/officeDocument/2006/relationships/image" Target="/ppt/media/image15.png" Id="R50912bd0fe17428c" /><Relationship Type="http://schemas.openxmlformats.org/officeDocument/2006/relationships/notesSlide" Target="/ppt/notesSlides/notesSlide15.xml" Id="R1188bfbccc484e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d6538377b45f4" /><Relationship Type="http://schemas.openxmlformats.org/officeDocument/2006/relationships/image" Target="/ppt/media/image16.png" Id="R1b041d845d944196" /><Relationship Type="http://schemas.openxmlformats.org/officeDocument/2006/relationships/notesSlide" Target="/ppt/notesSlides/notesSlide16.xml" Id="Rb711771b78e441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182d509ad4cb2" /><Relationship Type="http://schemas.openxmlformats.org/officeDocument/2006/relationships/image" Target="/ppt/media/image17.png" Id="Rf7d4943cff884fd9" /><Relationship Type="http://schemas.openxmlformats.org/officeDocument/2006/relationships/notesSlide" Target="/ppt/notesSlides/notesSlide17.xml" Id="Ra8ca882d935249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a24a3ac5b41d2" /><Relationship Type="http://schemas.openxmlformats.org/officeDocument/2006/relationships/image" Target="/ppt/media/image18.png" Id="R352dff8406d74175" /><Relationship Type="http://schemas.openxmlformats.org/officeDocument/2006/relationships/notesSlide" Target="/ppt/notesSlides/notesSlide18.xml" Id="Rb4fb4af4981948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bb10825b64d54" /><Relationship Type="http://schemas.openxmlformats.org/officeDocument/2006/relationships/image" Target="/ppt/media/image19.png" Id="Rc556e315dd5a4f84" /><Relationship Type="http://schemas.openxmlformats.org/officeDocument/2006/relationships/notesSlide" Target="/ppt/notesSlides/notesSlide19.xml" Id="R956294f30c5047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0b7c4e7cf4e72" /><Relationship Type="http://schemas.openxmlformats.org/officeDocument/2006/relationships/image" Target="/ppt/media/image20.png" Id="Rfc8d9542bc79482a" /><Relationship Type="http://schemas.openxmlformats.org/officeDocument/2006/relationships/notesSlide" Target="/ppt/notesSlides/notesSlide20.xml" Id="Rb72dd720064d4f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636c9a62440d6" /><Relationship Type="http://schemas.openxmlformats.org/officeDocument/2006/relationships/image" Target="/ppt/media/image21.png" Id="Rb2a4b5a822a24f18" /><Relationship Type="http://schemas.openxmlformats.org/officeDocument/2006/relationships/notesSlide" Target="/ppt/notesSlides/notesSlide21.xml" Id="R67687d36ff8d41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009d59b024536" /><Relationship Type="http://schemas.openxmlformats.org/officeDocument/2006/relationships/image" Target="/ppt/media/image22.png" Id="R7b0169494eb7428b" /><Relationship Type="http://schemas.openxmlformats.org/officeDocument/2006/relationships/notesSlide" Target="/ppt/notesSlides/notesSlide22.xml" Id="R9a3e4940c2a2429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97b30f1af40bb" /><Relationship Type="http://schemas.openxmlformats.org/officeDocument/2006/relationships/image" Target="/ppt/media/image23.png" Id="R404ce49b13014025" /><Relationship Type="http://schemas.openxmlformats.org/officeDocument/2006/relationships/notesSlide" Target="/ppt/notesSlides/notesSlide23.xml" Id="Re64d8a8cefcc4b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174a7f69f45cd" /><Relationship Type="http://schemas.openxmlformats.org/officeDocument/2006/relationships/image" Target="/ppt/media/image24.png" Id="R0fae608352624d81" /><Relationship Type="http://schemas.openxmlformats.org/officeDocument/2006/relationships/notesSlide" Target="/ppt/notesSlides/notesSlide24.xml" Id="R574f581dd77e4c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a96283f5b44a0" /><Relationship Type="http://schemas.openxmlformats.org/officeDocument/2006/relationships/image" Target="/ppt/media/image25.png" Id="R458655ded8b8482f" /><Relationship Type="http://schemas.openxmlformats.org/officeDocument/2006/relationships/notesSlide" Target="/ppt/notesSlides/notesSlide25.xml" Id="R03682fb195e143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9d7a0b3a4a3a" /><Relationship Type="http://schemas.openxmlformats.org/officeDocument/2006/relationships/image" Target="/ppt/media/image26.png" Id="Rfcc2a903d6114424" /><Relationship Type="http://schemas.openxmlformats.org/officeDocument/2006/relationships/notesSlide" Target="/ppt/notesSlides/notesSlide26.xml" Id="R2a95fbdba5474f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698ef00ff4e5e" /><Relationship Type="http://schemas.openxmlformats.org/officeDocument/2006/relationships/image" Target="/ppt/media/image27.png" Id="Rb862ae39ee904ae8" /><Relationship Type="http://schemas.openxmlformats.org/officeDocument/2006/relationships/notesSlide" Target="/ppt/notesSlides/notesSlide27.xml" Id="Rdc9f3f62188047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ec70bbb64ffb" /><Relationship Type="http://schemas.openxmlformats.org/officeDocument/2006/relationships/image" Target="/ppt/media/image28.png" Id="Rb79c7baed2694f58" /><Relationship Type="http://schemas.openxmlformats.org/officeDocument/2006/relationships/notesSlide" Target="/ppt/notesSlides/notesSlide28.xml" Id="Rc4451116333b48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c29964cf4abc" /><Relationship Type="http://schemas.openxmlformats.org/officeDocument/2006/relationships/image" Target="/ppt/media/image29.png" Id="Rae725de1a8cf4fcf" /><Relationship Type="http://schemas.openxmlformats.org/officeDocument/2006/relationships/notesSlide" Target="/ppt/notesSlides/notesSlide29.xml" Id="Rd64752bb362346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1ee90165448d6" /><Relationship Type="http://schemas.openxmlformats.org/officeDocument/2006/relationships/image" Target="/ppt/media/image30.png" Id="R29091df0b88c48ca" /><Relationship Type="http://schemas.openxmlformats.org/officeDocument/2006/relationships/notesSlide" Target="/ppt/notesSlides/notesSlide30.xml" Id="Rbfef0cf08f5c4df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ac3358bae4208" /><Relationship Type="http://schemas.openxmlformats.org/officeDocument/2006/relationships/image" Target="/ppt/media/image31.png" Id="R1b29c08ffb204566" /><Relationship Type="http://schemas.openxmlformats.org/officeDocument/2006/relationships/notesSlide" Target="/ppt/notesSlides/notesSlide31.xml" Id="Red3a05bd1b0b428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3046900a14170" /><Relationship Type="http://schemas.openxmlformats.org/officeDocument/2006/relationships/image" Target="/ppt/media/image32.png" Id="R020e399474ba400e" /><Relationship Type="http://schemas.openxmlformats.org/officeDocument/2006/relationships/notesSlide" Target="/ppt/notesSlides/notesSlide32.xml" Id="R4419b4260e6d46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4207c902a4793" /><Relationship Type="http://schemas.openxmlformats.org/officeDocument/2006/relationships/image" Target="/ppt/media/image33.png" Id="Radbe796d12724d85" /><Relationship Type="http://schemas.openxmlformats.org/officeDocument/2006/relationships/notesSlide" Target="/ppt/notesSlides/notesSlide33.xml" Id="Rf03b58b8343e4c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db1aed264aa7" /><Relationship Type="http://schemas.openxmlformats.org/officeDocument/2006/relationships/image" Target="/ppt/media/image34.png" Id="R1cc5ae4856ba4dbd" /><Relationship Type="http://schemas.openxmlformats.org/officeDocument/2006/relationships/notesSlide" Target="/ppt/notesSlides/notesSlide34.xml" Id="R9adadcf9d67e4c6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d48b8aaae4248" /><Relationship Type="http://schemas.openxmlformats.org/officeDocument/2006/relationships/image" Target="/ppt/media/image35.png" Id="Rde619ce6759b4ae2" /><Relationship Type="http://schemas.openxmlformats.org/officeDocument/2006/relationships/notesSlide" Target="/ppt/notesSlides/notesSlide35.xml" Id="Rf19e88a08fa14cb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fbed1c9f54734" /><Relationship Type="http://schemas.openxmlformats.org/officeDocument/2006/relationships/image" Target="/ppt/media/image36.png" Id="R9e4e6393205349d1" /><Relationship Type="http://schemas.openxmlformats.org/officeDocument/2006/relationships/notesSlide" Target="/ppt/notesSlides/notesSlide36.xml" Id="Rf0bdc21c38544d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 · 홈페이지 콘텐츠 관리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f2bb6de064263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이달의 과원관리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서울 기준 현재 연도·월의 공개 자료를 표시합니다. 수정은 해당 연도·월의 과원관리 수정 화면으로 이동합니다.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상시 재배력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공개된 현재 연도 재배력 정보를 표시합니다. 수정은 상시 재배력 관리로 이동합니다.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교육영상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홈페이지용 데이터에서 메인 선정 영상을 우선해 최대 3건 표시합니다. 수정은 원본 영상 상세로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01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71AC820C-F0EF-4457-A7C0-F36C47F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566E4B3A-8E8F-465F-B340-54B1469D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index.html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EA68A416-DBDD-4BEF-8F16-E4D0C12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29710FE8-76D3-449C-83A2-D0263BC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 · 최근 게시글과 공통 이동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20bf2c9b44c17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최근 게시글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최근 수정한 게시글 3건의 게시판·제목·상태·수정일을 표시합니다. 제목은 해당 글 수정, 게시글 관리는 목록으로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홈페이지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상단 홈페이지 링크는 사용자 홈페이지를 새 창으로 엽니다. 배포 환경의 실제 홈페이지 주소로 연결합니다.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계정·로그아웃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로그인 운영자 이름을 표시합니다. 현재 로그아웃 버튼은 API 미연결입니다. 세션 종료와 로그인 화면 이동을 개발합니다.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02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EFF3D417-DF60-4474-B7AA-4435044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2C5F3055-1F00-42A0-B66D-0126A3D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index.html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03C01AF1-EFEC-43CC-8B7D-244A889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최근 게시글은 공지·복숭아정보·재배자료를 수정일 내림차순, 동률 ID 내림차순으로 정렬해 3건 표시합니다. 운영자 인증 화면은 이번 퍼블리싱에 없습니다.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18987268-7B7D-42D6-8238-0886F4E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 · 목록과 검색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87e5a23524a81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조회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기간·상태·검색 대상을 조합합니다. 검색 버튼 또는 Enter로 검색하며 조건 변경 시 1페이지로 돌아갑니다.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공지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제목·채널·상태·작성자·수정일을 표시합니다. 제목 클릭 시 해당 글 수정 화면으로 이동합니다.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정렬·페이지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게시중인 상단 고정 공지를 먼저 표시합니다. 나머지는 수정일 내림차순, 동률이면 ID 내림차순이며 페이지당 10건입니다.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03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FAEEEAB4-81CB-4F8D-A8FF-866FFE8C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F169ED8A-D657-4DC2-9404-604D875C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3286F345-0414-4165-BEB7-89341D1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경로 contents-list.html#notice. category=공지. 기간 필터는 수정일 기준. 게시글 상태는 임시저장·비공개·게시예정·게시중·게시종료를 데이터로 계산합니다.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3C24162E-6C30-4A9B-B19F-703E15A8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조회 조건과 상태 판정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c2c31c41d4ce9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기간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전체·최근 1개월·3개월·6개월·직접 입력으로 수정일을 조회합니다. 직접 입력은 시작·종료일을 모두 확인하고 날짜 역전을 안내합니다.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상태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임시저장과 비공개를 먼저 판정합니다. 공개 글은 시작일 전 게시예정, 기간 안 게시중, 종료일 후 게시종료로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검색·초기화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제목+내용·제목·작성자로 검색합니다. 조건 변경 시 1페이지와 선택 체크를 초기화하며 검색 결과가 없으면 안내 행을 표시합니다.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04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44B4DEB6-792C-4183-AB48-58EABE76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ADM-POST-14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7F254D11-8395-4556-A419-8BE25A47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0584D12A-2C83-4CF7-B165-E03B56C4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상태·긴급 활성은 별도 저장값 대신 날짜와 공개값으로 계산합니다. 운영 서버 기준 시간대를 통일하고 시작·종료일 당일을 포함해 노출 여부를 판정합니다.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2398D644-BA1C-4D08-97FF-C47F392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 · 게시판 분리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33ed7130f437b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게시판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 게시판의 데이터만 조회합니다. 공지사항·재배자료와 목록, 임시저장 건수를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공통 목록 동작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검색·선택 삭제·상태·채널·페이지 처리는 공지사항과 같습니다. 홈페이지 공지 상단 고정 대상에서는 제외합니다.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신규등록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복숭아정보를 유지한 등록 화면으로 이동합니다. 게시판 없는 직접 등록 주소는 저장할 수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05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75B555C1-D4ED-4EFB-AE33-AB6CD12A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B20AC929-4A9B-41E6-936D-86806DB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contents-list.html#info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91BECBB0-B17E-437C-BBDC-84891EC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목록 #info, 등록 contents-create.html#info. 수정 시 기존 글의 게시판을 사용하며 임의 유형 변경 기능을 제공하지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9FC8D2C5-CC41-44E4-AB9E-559E1A2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· 게시판 분리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0f28837574ddc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재배자료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게시판만 조회합니다. 월별 과원관리와 상시 재배력은 별도 메뉴에서 관리합니다.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제목·첨부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제목을 선택하면 글을 수정합니다. 자료 본문·첨부파일·연결 자료는 게시글 등록·수정 규칙을 공통 적용합니다.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등록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메뉴에서 신규등록하면 게시판을 고정합니다. 검색 결과가 없으면 빈 목록 안내를 표시합니다.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06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84C24D49-68D6-45DB-8CF0-E6E8B11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73E7026C-5321-43B7-ADFB-32823E51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contents-list.html#material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4AF6213E-7532-4DC7-A85B-33BE5EB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목록 #material, 등록 contents-create.html#material. 기존 category=과원관리 게시글은 이 운영 목록에서 제외합니다.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792DB3B0-6C36-4596-B1F0-3C8FD8C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임시저장 목록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e413a98104262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임시저장 전환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게시판의 임시저장 건수를 표시합니다. 버튼을 누르면 임시저장 목록으로 전환하고 다시 누르면 일반 목록으로 돌아갑니다.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이어서 작성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 제목을 누르면 저장된 입력값을 불러옵니다. 등록 완료 전에는 사용자 게시판에 공개하지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조회·등록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 조회 시 페이지는 1로 초기화합니다. 기간·키워드 조건은 적용하며 신규등록은 현재 게시판을 유지합니다.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07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F2456FB7-D7C8-47DE-B26A-A4010E6E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ADM-POST-04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69961B6C-0759-4401-96CC-14A9A88C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DFDA4CAB-F3D9-4893-B9C7-699E99E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임시저장 자체 건수는 검색 결과 건수와 다릅니다. 일반 목록은 임시저장 데이터를 제외하며 임시저장 모드에서는 상태 필터를 적용하지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86815085-A5E3-484C-8ECC-C2F669B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선택 삭제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ce48085d14a7c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선택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행 체크박스와 전체 선택을 제공합니다. 선택된 글이 없으면 삭제 버튼을 비활성화합니다.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삭제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삭제 전 확인창을 표시합니다. 취소는 목록을 유지하고 삭제 확인 시 선택한 ID만 삭제합니다.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처리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성공하면 목록과 임시저장 건수를 갱신합니다. 저장 실패 시 완료 처리하지 않고 오류 안내를 표시합니다.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08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918C559A-51F7-4C15-8777-8BDD66F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ADM-POST-05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E3BB4B85-D253-4BCB-9691-7DAC4CC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FCC58C21-35FC-47F4-BA84-319FD6E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실제 운영에서는 서버 삭제와 연결 자료 접근 차단을 연동합니다. 현재 삭제는 브라우저 시연용 ContentStore에 반영됩니다.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26CCF3D0-6893-4D98-8E6B-6D2EE31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 등록 · 공개와 채널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4ca09cd94876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공개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공개·비공개를 선택합니다. 공개 여부와 게시기간을 함께 적용해 사용자 화면 노출을 결정합니다.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채널·기간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Web·App 중 1개 이상 선택하고 게시 시작일을 입력합니다. 종료일 없음 선택 시 종료일 입력을 비활성화합니다.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상단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공지사항에서만 표시합니다. 게시중인 고정 공지를 홈페이지 공지 목록 상단에 표시하며 긴급 홈 노출과 별도로 저장합니다.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09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C97BDE1D-96EC-4FB2-B0B3-22C31E8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ADM-POST-06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0759DED1-008F-41B7-844D-7E58242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35A80E55-5A6D-4BF5-8329-9F81BAF8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신규 게시 시작일은 오늘 날짜로 설정합니다. 게시판은 #notice에서 결정합니다. 채널이 없으면 비공개인 경우에도 현재 게시글 저장 검증이 차단합니다.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585911B0-2562-4DCB-B15F-77F69B8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등록 · 긴급설정과 게시기간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2fbc549614a21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긴급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사용·미사용을 전환합니다. 사용 시 긴급 시작일·종료일을 모두 입력하며 종료일은 시작일보다 앞설 수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활성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공개·게시기간·긴급기간을 모두 만족할 때 긴급 활성으로 판단합니다. 기간 종료·비공개 자료는 홈 긴급 노출에서 제외합니다.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저장과 발송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긴급 노출은 홈 안내 설정입니다. 공지 저장으로 알림을 발송하지 않으며 알림 업무는 자조금 통합 시스템에서 운영합니다.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10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4AAA283E-1D45-491B-B480-AA9878DE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ADM-POST-07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31B163A3-C003-4DD8-8EB4-F70577EE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91B40903-5AAD-455E-B983-F74BB126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기존 urgentOrder는 수정 시 유지합니다. 현재 최종 폼에는 홈 표시 순서 입력 UI가 없습니다. 긴급 홈 안내는 지정 순서의 수동 전환 기준입니다.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19BEF93A-DAC8-4B43-B52F-DAD44B9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복숭아정보·재배자료 등록 · 공통 입력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002d32b114299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게시판·제목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진입한 게시판은 고정합니다. 제목은 공백만으로 저장할 수 없으며 본문과 함께 필수입니다.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공개·긴급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공개·노출채널·기간·긴급설정은 공통입니다. 홈페이지 공지 상단 고정 항목은 공지사항에서만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본문·등록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본문은 필수이며 작성 후 등록합니다. 성공 확인 후 해당 게시판 목록에 복귀합니다. 재배자료도 같은 등록·검증 구조를 적용합니다.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11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B7FF3304-8F35-4E1D-BDAD-82A2FE3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ADM-POST-08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22A4C9D2-163B-475D-88D5-B7A0420A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contents-create.html#info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6195FA11-DC14-4245-BC3B-FCF2222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복숭아정보는 #info, 재배자료는 #material. 신규 및 임시저장 글은 임시저장을 제공하며 일반 게시글 수정에서는 임시저장으로 되돌리지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87B3F8EB-2CE8-47D4-8AF2-61B12AC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연결 자료 선택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d53f55b64f2f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유형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자료 유형을 먼저 선택합니다. 유형에 따라 게시판과 연결 대상 선택을 활성화하고 필요 없는 단계는 사용하지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연결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재배력·월별 과원관리·교육영상·게시글의 식별값을 저장합니다. 게시글 연결 시 게시판을 먼저 선택합니다.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사용자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저장한 연결 자료는 앱 상세에서 이동에 사용합니다. 비공개·삭제 자료는 열리지 않도록 조회 시 다시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12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E5790133-B1D8-434D-9CE6-487091F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ADM-POST-09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6DABE7EC-3EEA-4024-80E4-1421F618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FB9A9D01-192A-45FA-A5CD-7644063C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연결값은 relatedTarget에 저장합니다. 화면 목록의 표시 문구 대신 유형·연도·월·콘텐츠 ID를 보존합니다. 실제 대상 옵션은 content-links.js와 contents.js 기준입니다.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769BD346-6292-4F86-A31B-7180D85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본문 편집과 첨부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328d2f6b3454f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본문 편집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디자인·HTML 모드를 제공하며 글꼴·크기·줄간격·문자 서식을 편집합니다. 본문이 비어 있으면 등록을 차단합니다.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여러 파일 첨부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파일 선택 또는 드래그로 여러 파일을 첨부하고 목록에서 개별 제거합니다. 실제 서버 업로드·다운로드를 연결해야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입력값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파일과 본문을 함께 저장합니다. 저장 오류가 나면 작성값을 유지하며 성공한 경우에만 완료창을 표시합니다.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13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C3C050CE-1C5F-429B-AC45-678EE37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ADM-POST-10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4950CB4A-BB30-475E-A66A-43CE5DF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contents-create.html#material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5BA0DCC7-7024-4159-83F7-C4D702B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최종 게시글 폼에는 대표 이미지 입력이 없습니다. 첨부 원본은 ResourceStore의 별도 키를 참조해 시연 보관합니다. 운영 파일 용량·개수 제한은 최종 퍼블리싱에 명시되지 않았습니다.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A21F5AB0-C5E2-4C36-AD3B-165D5CEA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필수값 오류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715577f0e49b1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기본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게시판·노출채널·시작일·제목·본문을 확인합니다. 오류 항목 아래 안내를 표시하고 첫 오류 위치로 포커스를 이동합니다.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날짜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종료일이 시작일보다 빠르면 저장을 차단합니다. 긴급 사용 시 긴급기간 누락과 날짜 역전도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본문·임시저장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임시저장은 미완성 제목·본문을 허용합니다. 다만 게시기간과 긴급기간의 날짜가 역전되면 저장하지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14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5DDC5B03-70D8-49F7-90E2-29C3109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D2851731-838F-4779-B19A-5FDF119A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ACC8C9CB-3DE0-4F6F-BDEB-DE4B86B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게시글 코드에는 종료일 없음 미선택 시 종료일 누락을 명시적으로 차단하는 조건이 없습니다. 운영 필수 여부는 확인 필요이며 영상의 종료일 필수 검증과 혼용하지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F7A9E9AF-1BC7-4077-90B8-54B7044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미리보기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12bd0fe17428c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현재 입력값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제목·본문을 모달로 확인합니다. 미리보기만으로 공개 상태나 저장 데이터를 변경하지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본문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에디터 HTML을 표시하며 미리보기에서 script 요소를 제거합니다. 운영 본문 저장·출력의 HTML 정제는 서버와 함께 적용합니다.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닫기·복귀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닫으면 입력값을 유지한 작성 화면으로 돌아갑니다. 첨부 원본이 있으면 열기를 제공하고 기존 파일명만 있으면 재선택을 안내합니다.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15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471DCB55-0CF3-48C6-A22A-10AFCF16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28E49EDE-33C2-498B-8719-6C8DCFE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D8C690FA-859B-46FF-BC45-5C8B04E1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미리보기는 앱 자료 상세 형태로 제목·본문·첨부·연결 자료를 표시합니다. 새 첨부 원본은 열기 링크로 확인하고 파일명만 남은 기존 첨부는 재선택을 안내합니다.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187CC00A-3518-4ED3-96F6-9387D51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저장 완료와 이탈 확인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41d845d944196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완료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등록·임시저장·수정을 구분해 완료 문구를 표시합니다. 서버 연동 후에는 저장 응답 성공 시에만 완료 처리합니다.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목록 복귀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확인 버튼은 진입한 게시판 목록으로 이동합니다. 목록의 수정일·상태·채널과 임시저장 건수를 새 데이터로 갱신합니다.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작성 중 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내용이 있으면 이동 확인창을 표시합니다. 취소는 입력 유지, 이동은 저장하지 않고 목록으로 복귀합니다.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16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E8EC3613-E73A-484C-B04E-4763368F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8AD7A702-92DE-4FF1-9107-3762437B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FE699C93-B970-4EF7-962B-5B5EC69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contents-edit.html?id={id}로 기존 데이터를 불러옵니다. 일반 글 수정은 저장·삭제를 제공하고 삭제 확인 후 해당 게시판 목록으로 돌아갑니다.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506ECEBF-91EE-45F4-A78F-F019B13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연도별 목록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4943cff884fd9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연도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연도의 1~12월을 표시합니다. 저장·시연·미등록 개월 수를 구분하고 해당 연도·월 콘텐츠를 관리합니다.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월별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제목·준비 상태·공개 상태·채널·수정일을 표시합니다. 자료가 있으면 수정, 없으면 등록 화면으로 이동합니다.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콘텐츠 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같은 연도·월은 한 건으로 관리합니다. 과원관리 자료는 게시글의 재배자료 게시판과 별도로 저장합니다.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17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8E335476-625D-43E0-8524-AD4213DA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6D96F7F7-C2E3-436F-BC63-164FD7F5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orchard-content.html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07AA8440-06F2-456D-ABCF-A48193FB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저장 키 orchard:{year}:{month}. 현재 연도·월 행을 표시하며 초기 2026년은 시연 12개월입니다. 삭제한 시연 자료를 다시 초기값으로 되살리지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53DE3411-B149-4FF3-B7BD-E396A289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다음 해 사전 등록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dff8406d74175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다음 해 준비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연도를 바꾸면 해당 연도 12개월을 조회합니다. 미등록 월은 등록으로 표시하고 다음 해 자료를 사전에 작성할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공개와 등록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사전 등록과 공개는 별도입니다. 자동 일괄 공개를 제공하지 않으며 월별 화면에서 채널과 공개 상태를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사용자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앱은 올해 같은 월의 공개·App 자료를 우선 사용합니다. 없으면 작년 같은 월을 유지하고 둘 다 없으면 자료 없음으로 안내합니다.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18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91EFEA6F-4DC7-4EAD-981F-369868CF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EA7D1590-8E43-4C61-BFB8-97F2261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orchard-content.html?year=2027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E472B9B3-B198-4996-AC11-FCB05C1B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등록 폼의 현재 초기 공개값은 공개입니다. 과거 README의 다음 해 기본 비공개 설명보다 최종 폼을 우선합니다. 사전 등록 시 비공개 필요 여부는 운영 결정 사항입니다.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CA8B7F28-486F-4315-9C20-B405A65A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등록 · 기본 정보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6e315dd5a4f84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대상·제목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목록에서 선택한 연도·월을 표시합니다. 제목은 필수이며 같은 유형·연도·월의 중복 등록을 허용하지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썸네일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PNG·JPG·WebP를 선택·변경·제거합니다. 썸네일과 실제 본문 이미지는 각각 관리합니다.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채널·공개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Web·App을 각각 선택하고 공개·비공개를 저장합니다. 채널은 1개 이상 필수이며 선택한 채널마다 본문 이미지를 첨부합니다.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19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FE7D3233-7A66-4301-A9E3-BA677AD3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EF81D969-080A-450F-B9C8-C70F64D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monthly-content-form.html?type=orchard&amp;year=2027&amp;month=1&amp;mode=create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7A73D1C7-BF3E-4533-9B8D-F3EDF29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정상 진입은 type=orchard&amp;year=YYYY&amp;month=M&amp;mode=create|edit. 유형·연도·월·모드 또는 대상이 유효하지 않으면 폼 대신 오류와 목록 이동을 제공합니다.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1CC047B4-F178-483F-A33A-62804EF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수정 · 채널별 이미지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d9542bc79482a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Web 이미지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여러 이미지를 선택하거나 드래그해 추가합니다. 각 이미지의 위·아래 이동과 삭제로 본문 순서를 구성합니다.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App 이미지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App용 이미지 목록은 Web과 독립적으로 관리합니다. 채널 해제 시 입력을 비활성화하고 선택 채널에 맞춰 미리보기를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순서·삭제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위·아래 버튼으로 이미지 순서를 바꾸고 개별 삭제합니다. 선택 채널은 이미지 1장 이상이 필수이며 실제 저장은 서버 연결이 필요합니다.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34CE66D9-196F-4C9C-9EC4-3189AA3A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ADM-ORCHARD-04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BA09B209-0C8A-4742-AA1E-B74BDB17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F94AF529-1277-4B8E-B2E5-F483349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이미지 선택 후 예시 화면입니다. 초기 2026년 시연 자료에는 채널별 본문 이미지가 없습니다. 운영 데이터의 webImages/appImages, 순서·파일 저장을 연결해야 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03AA1AB3-0093-4FEF-A272-CB5705C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미리보기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4b5a822a24f18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저장 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자료 유형·연도·월·제목·공개 상태와 현재 첨부 이미지를 확인합니다. 미리보기는 저장을 실행하지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두 채널 선택 시 Web·App 탭을 표시합니다. 한 채널만 선택하면 해당 이미지로 표시하고 미선택 채널은 노출하지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빈값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채널이 없으면 채널 미선택, 이미지가 없으면 첨부 이미지 없음으로 안내합니다. 닫기 후 입력값과 이미지 순서를 유지합니다.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21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5C1E7A89-69DE-49D0-8418-D753431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ADM-ORCHARD-05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FA240DB9-DA32-4859-B615-D4478001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BFFCA5B6-1DC7-427E-8030-41CBB5F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이미지 선택 후 예시입니다. 선택 채널의 이미지를 순서대로 표시합니다. 미리보기 입력값과 마지막 저장값은 구분하며 현재 등록·수정은 서버 미연결 상태입니다.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691E3804-21BB-410C-8BE1-297C926A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등록·수정 서버 연결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169494eb7428b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현재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검증을 통과해도 서버 미연결 안내만 표시합니다. 등록·수정으로 월별 콘텐츠·게시글·브라우저 저장값을 바꾸지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저장 요청 개발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유형·연도·월·제목·공개 상태·채널·썸네일·채널별 이미지와 순서를 전송합니다. 서버에서 대상 존재와 중복 여부를 다시 검증합니다.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성공·실패 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서버 저장 성공 후 선택 연도 목록으로 돌아가 상태·수정일을 갱신합니다. 실패 시 입력값을 유지하고 완료로 처리하지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22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0B3E83BA-B493-4F5B-8D8E-F3219162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ADM-ORCHARD-07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889CB447-D04E-4B05-B203-C42F6632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4F309028-9BBC-43CF-A507-430CDF5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등록은 같은 유형·연도·월 중복을 차단하고 수정은 존재하는 자료만 허용합니다. 현재 검증 함수는 서버 검증 예시이며 실제 API가 연결된 상태는 아닙니다.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8D8FA0AA-2B13-436F-AB73-DC4FED20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삭제와 예외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ce49b13014025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삭제 진입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등록된 월의 수정 화면에서만 삭제 버튼을 표시합니다. 삭제 전 확인하고 취소 시 기존 입력 상태로 돌아갑니다.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삭제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해당 연도·월 콘텐츠를 삭제한 뒤 연도별 목록으로 복귀합니다. 사용자 조회와 홈 노출에서도 삭제 자료를 제외합니다.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이탈·오류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수정 중 목록 이동은 미저장 확인을 제공합니다. 중복 등록·없는 대상 수정·잘못된 URL은 저장하지 않고 안내합니다.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23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A8A4BF00-0679-4A9E-B040-537E195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ADM-ORCHARD-06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822484C2-546E-4769-940A-AF513974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8F486A45-2E8B-4989-9754-03091D9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삭제 결과는 orchard-content.html?year={year}&amp;deleted=1로 이동합니다. 연도·월 중복과 대상 존재 여부는 서버 저장 시에도 다시 검증해야 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91C0A708-B99C-4D56-8341-BE8E042F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기본 정보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e608352624d81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제목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재배력은 월별 12건과 구분해 한 자료로 관리합니다. 제목은 필수이며 기존 자료를 불러와 수정합니다.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썸네일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홈·목록에서 사용할 이미지를 선택·변경·제거합니다. 허용 형식은 PNG·JPG·WebP입니다.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공개·채널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상태와 Web·App 노출을 각각 저장합니다. 공개 상태로 저장할 때 채널을 1개 이상 선택해야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24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0CA47118-D1EB-495F-A367-832F3BC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D801F702-D31E-48FD-BF17-3C93B46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AC3F2DAA-F6CF-438B-B295-CF146DAA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상시 재배력 저장 키와 구조는 ResourceStore의 calendar 레코드를 사용합니다. 회원 알림 발송은 이 화면의 저장 업무에 포함하지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FF0DC8C2-C6FD-4E54-B6A8-82D7178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콘텐츠 이미지 구성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655ded8b8482f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Web 본문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여러 JPG·JPEG·PNG·WebP 이미지를 추가하고 순서를 바꾸거나 개별 삭제합니다. PDF 업로드 방식은 최종 갤러리 UI에서 제공하지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App 본문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 본문은 별도 이미지 목록으로 관리합니다. 선택 해제 채널은 이미지 편집을 비활성화하며 순서를 독립적으로 보존합니다.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채널별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채널을 바꿔도 이미지 목록을 구분합니다. 저장 성공 시 재조회하고 실패 시 오류를 표시해 입력값을 유지합니다.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25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3EB3AE67-136D-4AB6-A754-E5CD921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32A25803-D585-4FD2-9749-E6B020C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1D5652D8-979C-492D-A25A-A1AECBA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최종 상시 재배력 검증은 제목과 공개 시 채널 선택을 검사합니다. 선택 채널 이미지 1장 필수 검증은 월별 과원관리와 달리 명시되어 있지 않아 운영 확인이 필요합니다.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A2BF6281-767A-4321-9FC2-EC953E5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App 미리보기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2a903d6114424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App 미리보기에서 재배력 제목·이미지 구성을 확인합니다. 닫으면 편집 화면으로 복귀합니다.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본문 스크롤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App 이미지를 등록 순서대로 표시합니다. 본문을 아래로 스크롤해 확인하며 현재 갤러리 미리보기에는 별도 확대 기능이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닫기·복귀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닫으면 편집 화면으로 돌아갑니다. 미리보기는 현재 입력값이며 실제 앱의 자료 조회는 저장값·공개 상태·채널을 적용해 연결합니다.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26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56C331AD-02F2-4338-98C5-035BE45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954401A5-D0D5-45A8-8CB3-95D3FBB3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32D073D1-AE13-4012-96F9-71E784A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최종 갤러리 미리보기에는 실제 앱 검수 링크가 표시되지 않습니다. 이전 단·표 블록의 확대·앱 검수 링크 설명을 이번 화면 기능으로 적용하지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799120FF-3148-4C31-960C-1AC62D9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앱 홈 연결 미리보기 · 자료 전환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2ae39ee904ae8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검수 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관리자에서 검수 연도·월을 바꿔 자료를 확인합니다. 실제 앱에는 연도 선택 없이 현재 월 기준 자료를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자동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과원관리를 먼저 표시하고 7초마다 재배력으로 전환합니다. 수동 이동 후 자동 전환을 멈추며 홈 재진입 시 다시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노출·이동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자료가 하나면 하나만 표시합니다. 올해 월 자료가 없으면 작년 같은 월을 조회하며 자료 선택 시 해당 상세로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27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2A307325-CAFF-49F4-9BBC-36041CD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EFEC4E26-9BBE-48BC-9D85-B770713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home-content-preview.html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E0DE6A49-E444-440F-93C5-A4E51BF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home-content-preview.html은 앱 홈 연결 검수용이며 index.html의 홈페이지 콘텐츠 관리와 구분합니다. 실제 동작은 저장된 자료의 앱 검수 링크에서 확인합니다.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83DF05D0-B6D9-4FD3-88E0-0766CF3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목록과 검색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c7baed2694f58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조회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수집상태·홈 노출·분류·키워드로 조회합니다. 제목 선택은 해당 영상 상세 관리 화면으로 이동합니다.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홈 우선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홈에 노출 중인 영상을 위에 표시하고 배경으로 구분합니다. 채널 배지는 홈 선정과 별도로 공개된 Web·App을 나타냅니다.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수집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목록 새로고침과 최근 수집 시간을 제공합니다. 현재 외부 수집 API는 미연결이며 실제 수집 결과 없이 완료 처리하지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28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84458A25-093F-4D79-9E59-8683E0BC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99FF7FD0-B5A0-4190-A024-B3CE79D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videos-list.html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476B8772-5A58-4F30-81BD-E3CF171F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수집 영상 원본 ID·제목·길이·재생 가능 여부를 보존합니다. 비공개·기간 종료·재생 불가 영상은 현재 홈 노출 표시에서 제외하며 자동 대체하지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5B02BBE0-FF23-4B1D-AA52-C8387A9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상세 · 공개와 홈 노출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25de1a8cf4fcf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공개·기간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상태, 노출채널, 시작일·종료일을 저장합니다. 종료일 없음 미선택 시 종료일이 필수이며 날짜 역전을 허용하지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채널별 홈 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 메인과 App 메인을 독립적으로 선택합니다. 해당 노출채널을 해제하면 그 채널의 메인 선택을 비활성화합니다.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App 대표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 공개·재생 가능·현재 게시기간을 모두 만족한 영상만 선정합니다. 앱 홈 대표 영상은 한 개이며 Web 홈 선정은 별도입니다.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29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297A974D-267F-4B02-B765-4621D315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C07616A9-6EFE-4ED2-808A-702720D8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EDEBC403-DC93-4510-9913-7C737976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channels와 homeChannels를 별도 저장합니다. 홈 체크를 단순 공개와 혼용하지 않습니다. App 선정 이후 비공개·기간 종료 시 숨기고 다른 영상으로 자동 교체하지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8F599B58-32EF-4E1B-8CA5-8099CC7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상세 · 표시 정보와 관련자료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1df0b88c48ca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원본과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원본 ID·재생 정보는 조회하고 원본영상 보기를 제공합니다. 가공 분류는 재배기술·생육단계 중 선택하며 필수입니다.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표시 제목·설명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표시 제목은 필수, 설명은 선택입니다. 원본 제목과 사용자에게 보여 줄 표시 제목을 구분해 보존합니다.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관련자료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PDF·PNG·JPG 중 한 파일을 선택하고 제거할 수 있습니다. 현재 선택값을 저장하며 실제 파일 업로드·다운로드를 연결합니다.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30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1BCED3D6-E608-4154-B8BB-42921DA7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6E171076-73CD-4554-B101-9A5ED037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1260BD97-2EBB-4049-99DA-D2831C01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저장 필수값은 표시 제목·허용 분류·시작일과 공개 시 채널입니다. 관련자료는 attachment 단일 필드이며 여러 파일 첨부인 게시글과 구분합니다.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D32180BA-0B9A-4183-8452-7E92342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앱 홈 대표 영상 교체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9c08ffb204566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교체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다른 App 대표 영상이 있으면 현재 영상과 변경 영상을 표시해 교체 여부를 확인합니다. 취소하면 저장하지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교체 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확인 시 기존 영상의 App 메인 선정을 해제하고 새 영상의 선정을 함께 저장합니다. 실패 시 일부만 교체되지 않도록 처리합니다.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유지되는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기존 Web 홈 선정과 영상 목록의 최신순 기준은 유지합니다. App 대표 선정은 Web 메인 노출을 강제로 변경하지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31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9340B721-34BF-4403-87C1-78A41AE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ADM-VIDEO-04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C0C1718D-2D61-4C8C-9611-9F370B4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videos-detail.html?id=7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C37E7E14-BE3B-4F83-97B2-C4639C83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ResourceStore.putMany로 기존·신규 레코드를 함께 저장합니다. 운영 서버에서도 대표 영상 1개 제약과 동시 저장을 보장해야 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1D35B7CE-F6DB-4A2D-99B9-EA58D1C2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App 미리보기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e399474ba400e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상세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제목·분류·설명·썸네일·첨부를 확인합니다. 미리보기도 필수값 검증을 먼저 수행하며 실제 영상 재생은 미연결입니다.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파일 미리보기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관련자료를 열어 확인하고 닫으면 영상 상세로 복귀합니다. 실제 이용자는 공개·기간·채널 조건에 따라 접근합니다.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성공 시 영상 목록으로 복귀합니다. 오류 시 안내창을 표시하고 입력값을 유지하며 저장 버튼을 다시 활성화합니다.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32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3F0FFB55-80C9-41D4-B505-D46939DF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ADM-VIDEO-05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747D0626-25C4-4982-8D69-54AA7770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BB82DB2C-E396-43CA-8978-6ABC6AA8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첨부 선택 후 예시입니다. Blob 원본은 새 창 열기 링크를 제공하고 이름만 있는 기존 첨부는 파일명만 표시합니다. 재생은 이미지에 보이는 재생 버튼과 별개로 연동 전입니다.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F1F92536-435C-4FEA-B9B7-7876D02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삭제와 이탈 확인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e796d12724d85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영상 삭제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삭제 버튼은 확인창을 엽니다. 확인 후 관리 대상 영상을 삭제 처리하고 영상 목록으로 이동합니다.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사용자 반영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삭제한 영상은 목록·홈·연결 자료 대상에서 제외합니다. 외부 유튜브 원본 영상 자체를 삭제하는 기능은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미저장 이탈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후 목록으로 이동하면 확인창을 표시합니다. 저장하지 않고 이동 또는 작성 계속을 선택하며 없는 영상 ID는 오류로 안내합니다.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33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9FF1D188-E77A-4A19-BAD7-7B913017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ADM-VIDEO-06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F5842AD4-B564-4D18-9AAB-0042E084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0D79365F-826F-4E5B-8F6D-F4CF85A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deleted=true로 시연 저장합니다. 영상 원본 삭제·외부 플랫폼 제어 기능을 신규 범위로 해석하지 않습니다. 저장·삭제 실패는 완료 처리하지 않습니다.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BB1996D4-2E38-4258-B9D9-4FA1A03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조회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5ae4856ba4dbd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운영자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운영자를 선택하면 사용·미사용 상태와 해당 권한을 조회합니다. 선택 운영자 ID를 주소에 유지합니다.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업무별 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공지·게시글, 교육영상, 상시 재배력, 월별 과원관리의 작성·게시 권한을 표시합니다. 조회 화면에서는 체크를 변경하지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수정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권한 수정 버튼으로 선택 운영자의 수정 화면을 엽니다. 행사·설문·기관정보 업무는 현재 권한 대상에 포함하지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34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FEF7DA38-CF77-47B3-B2AB-E447B385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ADM-PERM-01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104C95CD-7DB3-46BB-A4F1-BB27D6E1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permissions.html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5C62E774-C411-4BDD-A1EA-46C84542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결과 조회·다운로드 열은 지원하지 않는 업무에 대시로 표시합니다. 현재 데이터는 MockData.operators이며 실제 운영자 조회·권한 적용 API는 미연결입니다.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DF21C81B-8AA9-4C23-B0C3-6AC6B8F0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수정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19ce6759b4ae2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권한 편집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운영자와 업무별 작성·게시 권한을 변경합니다. 지원하지 않는 권한은 체크 입력을 제공하지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기존 권한 불러오기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내용이 있으면 취소 여부를 확인한 뒤 기존 권한으로 되돌립니다. 운영자 전환과 목록 이동도 미저장 확인을 제공합니다.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 연결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저장 버튼은 시연 안내만 표시하며 권한을 영구 저장하지 않습니다. 서버 저장과 실제 화면·작업 권한 검사를 함께 연결합니다.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35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1354AA07-FA5D-4F7E-A380-6AD01FC2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ADM-PERM-02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375041C7-3698-49FE-BDA7-72DF3F20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permissions-edit.html?operator=operator-a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8B7CEC73-3F7B-48C2-92BD-1872B67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변경 없음은 별도 안내. 미확인 운영자 ID는 찾을 수 없음과 목록 복귀를 제공합니다. 작성·게시 권한의 상세 허용 작업과 적용 시점은 운영 정책 확인이 필요합니다.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489DC337-5B6E-45C9-8EBC-22453570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276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미저장 변경 확인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e6393205349d1"/>
          <a:stretch xmlns:a="http://schemas.openxmlformats.org/drawingml/2006/main"/>
        </p:blipFill>
        <p:spPr>
          <a:xfrm xmlns:a="http://schemas.openxmlformats.org/drawingml/2006/main">
            <a:off x="1071563" y="2381250"/>
            <a:ext cx="10429875" cy="695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확인 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099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체크를 변경한 상태에서 기존 권한 불러오기·운영자 전환·목록 이동 시 변경 내용을 취소할지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8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취소·확인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9117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취소하면 현재 편집값을 유지합니다. 확인하면 요청한 이동 또는 기존 권한 복원을 실행합니다.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2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운영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72425"/>
            <a:ext cx="3714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회원·납부·증명서·알림 발송은 기존 자조금 통합 시스템에서 담당합니다. 현재 관리자에는 해당 관리 기능을 추가하지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44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44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36 / 36</a:t>
            </a:r>
          </a:p>
        </p:txBody>
      </p:sp>
      <p:sp>
        <p:nvSpPr>
          <p:cNvPr id="16" name="screen-id">
            <a:extLst xmlns:a="http://schemas.openxmlformats.org/drawingml/2006/main">
              <a:ext uri="{FF2B5EF4-FFF2-40B4-BE49-F238E27FC236}">
                <a16:creationId xmlns:a16="http://schemas.microsoft.com/office/drawing/2014/main" id="{14B39AC6-52A8-4868-8EAC-0B1FC9F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ADM-PERM-03</a:t>
            </a:r>
          </a:p>
        </p:txBody>
      </p:sp>
      <p:sp>
        <p:nvSpPr>
          <p:cNvPr id="17" name="source-route">
            <a:extLst xmlns:a="http://schemas.openxmlformats.org/drawingml/2006/main">
              <a:ext uri="{FF2B5EF4-FFF2-40B4-BE49-F238E27FC236}">
                <a16:creationId xmlns:a16="http://schemas.microsoft.com/office/drawing/2014/main" id="{F241C0F9-807C-47F7-A4C6-7473739C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permissions-edit.html?operator=operator-a</a:t>
            </a:r>
          </a:p>
        </p:txBody>
      </p:sp>
      <p:sp>
        <p:nvSpPr>
          <p:cNvPr id="18" name="developer-note">
            <a:extLst xmlns:a="http://schemas.openxmlformats.org/drawingml/2006/main">
              <a:ext uri="{FF2B5EF4-FFF2-40B4-BE49-F238E27FC236}">
                <a16:creationId xmlns:a16="http://schemas.microsoft.com/office/drawing/2014/main" id="{EC2F1207-8E20-4AF5-BD28-F587713E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916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직접 주소로 행사·설문·알림 검토 화면에 진입하면 게시글 목록으로 이동합니다. components.html과 docs/survey-*는 컴포넌트·보존 참고자료이며 개발 화면 목록에서 제외합니다.</a:t>
            </a:r>
          </a:p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DC484A1C-3A59-4B00-9CFF-32AB659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014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2026-10-23T05:16:06.9850000Z</dcterms:created>
  <dcterms:modified xsi:type="dcterms:W3CDTF">2026-10-23T05:16:06.9850000Z</dcterms:modified>
</coreProperties>
</file>